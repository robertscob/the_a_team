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2"/>
  </p:notesMasterIdLst>
  <p:sldIdLst>
    <p:sldId id="256" r:id="rId2"/>
    <p:sldId id="258" r:id="rId3"/>
    <p:sldId id="259" r:id="rId4"/>
    <p:sldId id="261" r:id="rId5"/>
    <p:sldId id="277" r:id="rId6"/>
    <p:sldId id="278" r:id="rId7"/>
    <p:sldId id="280" r:id="rId8"/>
    <p:sldId id="268" r:id="rId9"/>
    <p:sldId id="269" r:id="rId10"/>
    <p:sldId id="284" r:id="rId11"/>
    <p:sldId id="288" r:id="rId12"/>
    <p:sldId id="289" r:id="rId13"/>
    <p:sldId id="290" r:id="rId14"/>
    <p:sldId id="272" r:id="rId15"/>
    <p:sldId id="281" r:id="rId16"/>
    <p:sldId id="282" r:id="rId17"/>
    <p:sldId id="283" r:id="rId18"/>
    <p:sldId id="291" r:id="rId19"/>
    <p:sldId id="293" r:id="rId20"/>
    <p:sldId id="294" r:id="rId21"/>
  </p:sldIdLst>
  <p:sldSz cx="9144000" cy="5143500" type="screen16x9"/>
  <p:notesSz cx="6858000" cy="9144000"/>
  <p:embeddedFontLst>
    <p:embeddedFont>
      <p:font typeface="Anaheim" panose="020B0604020202020204" charset="0"/>
      <p:regular r:id="rId23"/>
      <p:bold r:id="rId24"/>
    </p:embeddedFont>
    <p:embeddedFont>
      <p:font typeface="DM Sans" pitchFamily="2" charset="0"/>
      <p:regular r:id="rId25"/>
      <p:bold r:id="rId26"/>
      <p:italic r:id="rId27"/>
      <p:boldItalic r:id="rId28"/>
    </p:embeddedFont>
    <p:embeddedFont>
      <p:font typeface="Georgia Pro Cond" panose="02040506050405020303" pitchFamily="18" charset="0"/>
      <p:regular r:id="rId29"/>
      <p:bold r:id="rId30"/>
      <p:italic r:id="rId31"/>
      <p:boldItalic r:id="rId32"/>
    </p:embeddedFont>
    <p:embeddedFont>
      <p:font typeface="Georgia Pro Light" panose="02040302050405020303" pitchFamily="18" charset="0"/>
      <p:regular r:id="rId33"/>
      <p:italic r:id="rId34"/>
    </p:embeddedFont>
    <p:embeddedFont>
      <p:font typeface="Playfair Display Medium" panose="020B0604020202020204" charset="0"/>
      <p:regular r:id="rId35"/>
      <p:bold r:id="rId36"/>
      <p:italic r:id="rId37"/>
      <p:boldItalic r:id="rId38"/>
    </p:embeddedFont>
    <p:embeddedFont>
      <p:font typeface="Raleway"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8F8E8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69EC8F-CA95-4EA4-AF02-3C95B50022CB}">
  <a:tblStyle styleId="{E769EC8F-CA95-4EA4-AF02-3C95B50022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4D6D1DB-F3DF-4A94-B7FE-21FDEFCD630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7"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B"/>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72" name="Google Shape;17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762641760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88" name="Google Shape;188;g2762641760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05" name="Google Shape;20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23" name="Google Shape;22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772D1230-685F-EA45-8CB3-8D129C618421}"/>
            </a:ext>
          </a:extLst>
        </p:cNvPr>
        <p:cNvGrpSpPr/>
        <p:nvPr/>
      </p:nvGrpSpPr>
      <p:grpSpPr>
        <a:xfrm>
          <a:off x="0" y="0"/>
          <a:ext cx="0" cy="0"/>
          <a:chOff x="0" y="0"/>
          <a:chExt cx="0" cy="0"/>
        </a:xfrm>
      </p:grpSpPr>
      <p:sp>
        <p:nvSpPr>
          <p:cNvPr id="222" name="Google Shape;222;g54dda1946d_6_308:notes">
            <a:extLst>
              <a:ext uri="{FF2B5EF4-FFF2-40B4-BE49-F238E27FC236}">
                <a16:creationId xmlns:a16="http://schemas.microsoft.com/office/drawing/2014/main" id="{AEB57500-CAB5-4625-0A20-A5B193E1B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23" name="Google Shape;223;g54dda1946d_6_308:notes">
            <a:extLst>
              <a:ext uri="{FF2B5EF4-FFF2-40B4-BE49-F238E27FC236}">
                <a16:creationId xmlns:a16="http://schemas.microsoft.com/office/drawing/2014/main" id="{6D4DEC19-EEC1-28F7-F3D8-FC88F06C1B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7344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1EDD6A1D-FD1E-6819-23A7-D7363C25FEE5}"/>
            </a:ext>
          </a:extLst>
        </p:cNvPr>
        <p:cNvGrpSpPr/>
        <p:nvPr/>
      </p:nvGrpSpPr>
      <p:grpSpPr>
        <a:xfrm>
          <a:off x="0" y="0"/>
          <a:ext cx="0" cy="0"/>
          <a:chOff x="0" y="0"/>
          <a:chExt cx="0" cy="0"/>
        </a:xfrm>
      </p:grpSpPr>
      <p:sp>
        <p:nvSpPr>
          <p:cNvPr id="222" name="Google Shape;222;g54dda1946d_6_308:notes">
            <a:extLst>
              <a:ext uri="{FF2B5EF4-FFF2-40B4-BE49-F238E27FC236}">
                <a16:creationId xmlns:a16="http://schemas.microsoft.com/office/drawing/2014/main" id="{3E4D6012-5B5B-A75A-4B01-AED4EECBB8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23" name="Google Shape;223;g54dda1946d_6_308:notes">
            <a:extLst>
              <a:ext uri="{FF2B5EF4-FFF2-40B4-BE49-F238E27FC236}">
                <a16:creationId xmlns:a16="http://schemas.microsoft.com/office/drawing/2014/main" id="{200CDA39-9A26-A504-BD16-BDA9E576EE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291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96FF2F82-FB03-C89A-3A4C-34BE6191531B}"/>
            </a:ext>
          </a:extLst>
        </p:cNvPr>
        <p:cNvGrpSpPr/>
        <p:nvPr/>
      </p:nvGrpSpPr>
      <p:grpSpPr>
        <a:xfrm>
          <a:off x="0" y="0"/>
          <a:ext cx="0" cy="0"/>
          <a:chOff x="0" y="0"/>
          <a:chExt cx="0" cy="0"/>
        </a:xfrm>
      </p:grpSpPr>
      <p:sp>
        <p:nvSpPr>
          <p:cNvPr id="211" name="Google Shape;211;g184d99d1a72_0_15:notes">
            <a:extLst>
              <a:ext uri="{FF2B5EF4-FFF2-40B4-BE49-F238E27FC236}">
                <a16:creationId xmlns:a16="http://schemas.microsoft.com/office/drawing/2014/main" id="{7622AE3B-340C-83D9-9CFB-BA32284672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12" name="Google Shape;212;g184d99d1a72_0_15:notes">
            <a:extLst>
              <a:ext uri="{FF2B5EF4-FFF2-40B4-BE49-F238E27FC236}">
                <a16:creationId xmlns:a16="http://schemas.microsoft.com/office/drawing/2014/main" id="{52228F95-07EB-6495-7A34-A168C1517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0128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07" name="Google Shape;307;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20" name="Google Shape;320;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a:extLst>
            <a:ext uri="{FF2B5EF4-FFF2-40B4-BE49-F238E27FC236}">
              <a16:creationId xmlns:a16="http://schemas.microsoft.com/office/drawing/2014/main" id="{02639436-2E1B-4062-D234-651C636A3335}"/>
            </a:ext>
          </a:extLst>
        </p:cNvPr>
        <p:cNvGrpSpPr/>
        <p:nvPr/>
      </p:nvGrpSpPr>
      <p:grpSpPr>
        <a:xfrm>
          <a:off x="0" y="0"/>
          <a:ext cx="0" cy="0"/>
          <a:chOff x="0" y="0"/>
          <a:chExt cx="0" cy="0"/>
        </a:xfrm>
      </p:grpSpPr>
      <p:sp>
        <p:nvSpPr>
          <p:cNvPr id="319" name="Google Shape;319;g184d99d1a72_0_2:notes">
            <a:extLst>
              <a:ext uri="{FF2B5EF4-FFF2-40B4-BE49-F238E27FC236}">
                <a16:creationId xmlns:a16="http://schemas.microsoft.com/office/drawing/2014/main" id="{8F2FDD50-2E69-ECC3-A4E3-9C287B39A7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20" name="Google Shape;320;g184d99d1a72_0_2:notes">
            <a:extLst>
              <a:ext uri="{FF2B5EF4-FFF2-40B4-BE49-F238E27FC236}">
                <a16:creationId xmlns:a16="http://schemas.microsoft.com/office/drawing/2014/main" id="{DCA8B75D-3970-25D7-013D-7264FACDE3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9733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a:extLst>
            <a:ext uri="{FF2B5EF4-FFF2-40B4-BE49-F238E27FC236}">
              <a16:creationId xmlns:a16="http://schemas.microsoft.com/office/drawing/2014/main" id="{A50922EA-239D-3E64-0B3F-DB489E26DEA1}"/>
            </a:ext>
          </a:extLst>
        </p:cNvPr>
        <p:cNvGrpSpPr/>
        <p:nvPr/>
      </p:nvGrpSpPr>
      <p:grpSpPr>
        <a:xfrm>
          <a:off x="0" y="0"/>
          <a:ext cx="0" cy="0"/>
          <a:chOff x="0" y="0"/>
          <a:chExt cx="0" cy="0"/>
        </a:xfrm>
      </p:grpSpPr>
      <p:sp>
        <p:nvSpPr>
          <p:cNvPr id="319" name="Google Shape;319;g184d99d1a72_0_2:notes">
            <a:extLst>
              <a:ext uri="{FF2B5EF4-FFF2-40B4-BE49-F238E27FC236}">
                <a16:creationId xmlns:a16="http://schemas.microsoft.com/office/drawing/2014/main" id="{333022AD-DD82-216C-72B7-4A56693B65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20" name="Google Shape;320;g184d99d1a72_0_2:notes">
            <a:extLst>
              <a:ext uri="{FF2B5EF4-FFF2-40B4-BE49-F238E27FC236}">
                <a16:creationId xmlns:a16="http://schemas.microsoft.com/office/drawing/2014/main" id="{B4623EE5-4821-5E64-4361-4A6D91D85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574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a:extLst>
            <a:ext uri="{FF2B5EF4-FFF2-40B4-BE49-F238E27FC236}">
              <a16:creationId xmlns:a16="http://schemas.microsoft.com/office/drawing/2014/main" id="{509A2F6C-3543-F5F4-E159-4706D7633F36}"/>
            </a:ext>
          </a:extLst>
        </p:cNvPr>
        <p:cNvGrpSpPr/>
        <p:nvPr/>
      </p:nvGrpSpPr>
      <p:grpSpPr>
        <a:xfrm>
          <a:off x="0" y="0"/>
          <a:ext cx="0" cy="0"/>
          <a:chOff x="0" y="0"/>
          <a:chExt cx="0" cy="0"/>
        </a:xfrm>
      </p:grpSpPr>
      <p:sp>
        <p:nvSpPr>
          <p:cNvPr id="319" name="Google Shape;319;g184d99d1a72_0_2:notes">
            <a:extLst>
              <a:ext uri="{FF2B5EF4-FFF2-40B4-BE49-F238E27FC236}">
                <a16:creationId xmlns:a16="http://schemas.microsoft.com/office/drawing/2014/main" id="{8F56FC1F-7CB0-9E84-8993-D7070F4D3E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20" name="Google Shape;320;g184d99d1a72_0_2:notes">
            <a:extLst>
              <a:ext uri="{FF2B5EF4-FFF2-40B4-BE49-F238E27FC236}">
                <a16:creationId xmlns:a16="http://schemas.microsoft.com/office/drawing/2014/main" id="{4B0AD6F3-31D2-4553-1329-DC55370583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096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a:extLst>
            <a:ext uri="{FF2B5EF4-FFF2-40B4-BE49-F238E27FC236}">
              <a16:creationId xmlns:a16="http://schemas.microsoft.com/office/drawing/2014/main" id="{0E9950BC-5282-C646-ACA1-F91B23D8883F}"/>
            </a:ext>
          </a:extLst>
        </p:cNvPr>
        <p:cNvGrpSpPr/>
        <p:nvPr/>
      </p:nvGrpSpPr>
      <p:grpSpPr>
        <a:xfrm>
          <a:off x="0" y="0"/>
          <a:ext cx="0" cy="0"/>
          <a:chOff x="0" y="0"/>
          <a:chExt cx="0" cy="0"/>
        </a:xfrm>
      </p:grpSpPr>
      <p:sp>
        <p:nvSpPr>
          <p:cNvPr id="319" name="Google Shape;319;g184d99d1a72_0_2:notes">
            <a:extLst>
              <a:ext uri="{FF2B5EF4-FFF2-40B4-BE49-F238E27FC236}">
                <a16:creationId xmlns:a16="http://schemas.microsoft.com/office/drawing/2014/main" id="{5491DC88-9D97-F39B-96F2-E486B2FF7D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20" name="Google Shape;320;g184d99d1a72_0_2:notes">
            <a:extLst>
              <a:ext uri="{FF2B5EF4-FFF2-40B4-BE49-F238E27FC236}">
                <a16:creationId xmlns:a16="http://schemas.microsoft.com/office/drawing/2014/main" id="{3C16444F-A15D-334D-6A08-0CF4DDDF2F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72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63" name="Google Shape;36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a:extLst>
            <a:ext uri="{FF2B5EF4-FFF2-40B4-BE49-F238E27FC236}">
              <a16:creationId xmlns:a16="http://schemas.microsoft.com/office/drawing/2014/main" id="{E8FBDFB5-9AC6-850E-B9D8-50C2DE40FAC1}"/>
            </a:ext>
          </a:extLst>
        </p:cNvPr>
        <p:cNvGrpSpPr/>
        <p:nvPr/>
      </p:nvGrpSpPr>
      <p:grpSpPr>
        <a:xfrm>
          <a:off x="0" y="0"/>
          <a:ext cx="0" cy="0"/>
          <a:chOff x="0" y="0"/>
          <a:chExt cx="0" cy="0"/>
        </a:xfrm>
      </p:grpSpPr>
      <p:sp>
        <p:nvSpPr>
          <p:cNvPr id="362" name="Google Shape;362;g54dda1946d_4_2701:notes">
            <a:extLst>
              <a:ext uri="{FF2B5EF4-FFF2-40B4-BE49-F238E27FC236}">
                <a16:creationId xmlns:a16="http://schemas.microsoft.com/office/drawing/2014/main" id="{CD7BA100-46F7-1D53-E289-C90D4634C1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63" name="Google Shape;363;g54dda1946d_4_2701:notes">
            <a:extLst>
              <a:ext uri="{FF2B5EF4-FFF2-40B4-BE49-F238E27FC236}">
                <a16:creationId xmlns:a16="http://schemas.microsoft.com/office/drawing/2014/main" id="{81EB4FCC-77EC-659E-DB66-5F8D63A7A7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93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a:extLst>
            <a:ext uri="{FF2B5EF4-FFF2-40B4-BE49-F238E27FC236}">
              <a16:creationId xmlns:a16="http://schemas.microsoft.com/office/drawing/2014/main" id="{C88D48C2-2924-96CA-BAAC-A8FD82A50EE2}"/>
            </a:ext>
          </a:extLst>
        </p:cNvPr>
        <p:cNvGrpSpPr/>
        <p:nvPr/>
      </p:nvGrpSpPr>
      <p:grpSpPr>
        <a:xfrm>
          <a:off x="0" y="0"/>
          <a:ext cx="0" cy="0"/>
          <a:chOff x="0" y="0"/>
          <a:chExt cx="0" cy="0"/>
        </a:xfrm>
      </p:grpSpPr>
      <p:sp>
        <p:nvSpPr>
          <p:cNvPr id="362" name="Google Shape;362;g54dda1946d_4_2701:notes">
            <a:extLst>
              <a:ext uri="{FF2B5EF4-FFF2-40B4-BE49-F238E27FC236}">
                <a16:creationId xmlns:a16="http://schemas.microsoft.com/office/drawing/2014/main" id="{469E93FE-6B29-E2CD-0156-FC0D8261F7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63" name="Google Shape;363;g54dda1946d_4_2701:notes">
            <a:extLst>
              <a:ext uri="{FF2B5EF4-FFF2-40B4-BE49-F238E27FC236}">
                <a16:creationId xmlns:a16="http://schemas.microsoft.com/office/drawing/2014/main" id="{11DF2B97-1AA1-9B9F-949B-9747E12BAC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3121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a:extLst>
            <a:ext uri="{FF2B5EF4-FFF2-40B4-BE49-F238E27FC236}">
              <a16:creationId xmlns:a16="http://schemas.microsoft.com/office/drawing/2014/main" id="{D89D092B-5E0C-F1E2-BC1A-094C43B3198B}"/>
            </a:ext>
          </a:extLst>
        </p:cNvPr>
        <p:cNvGrpSpPr/>
        <p:nvPr/>
      </p:nvGrpSpPr>
      <p:grpSpPr>
        <a:xfrm>
          <a:off x="0" y="0"/>
          <a:ext cx="0" cy="0"/>
          <a:chOff x="0" y="0"/>
          <a:chExt cx="0" cy="0"/>
        </a:xfrm>
      </p:grpSpPr>
      <p:sp>
        <p:nvSpPr>
          <p:cNvPr id="362" name="Google Shape;362;g54dda1946d_4_2701:notes">
            <a:extLst>
              <a:ext uri="{FF2B5EF4-FFF2-40B4-BE49-F238E27FC236}">
                <a16:creationId xmlns:a16="http://schemas.microsoft.com/office/drawing/2014/main" id="{9F15C43C-5A9A-61FD-FEDD-1912B6EA96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63" name="Google Shape;363;g54dda1946d_4_2701:notes">
            <a:extLst>
              <a:ext uri="{FF2B5EF4-FFF2-40B4-BE49-F238E27FC236}">
                <a16:creationId xmlns:a16="http://schemas.microsoft.com/office/drawing/2014/main" id="{4EEDCF81-B594-5707-ED3D-8A38658CE5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9038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2560825"/>
            <a:ext cx="4595700" cy="18924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75" y="1007350"/>
            <a:ext cx="2208900" cy="569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cxnSp>
        <p:nvCxnSpPr>
          <p:cNvPr id="11" name="Google Shape;11;p2"/>
          <p:cNvCxnSpPr/>
          <p:nvPr/>
        </p:nvCxnSpPr>
        <p:spPr>
          <a:xfrm>
            <a:off x="3167225" y="539500"/>
            <a:ext cx="60726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rot="10800000">
            <a:off x="843077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13225" y="3762200"/>
            <a:ext cx="2822700" cy="8418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3225" y="2734600"/>
            <a:ext cx="1288800" cy="8418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a:spLocks noGrp="1"/>
          </p:cNvSpPr>
          <p:nvPr>
            <p:ph type="pic" idx="3"/>
          </p:nvPr>
        </p:nvSpPr>
        <p:spPr>
          <a:xfrm flipH="1">
            <a:off x="5468450" y="819367"/>
            <a:ext cx="2623800" cy="3826800"/>
          </a:xfrm>
          <a:prstGeom prst="rect">
            <a:avLst/>
          </a:prstGeom>
          <a:noFill/>
          <a:ln>
            <a:noFill/>
          </a:ln>
        </p:spPr>
        <p:txBody>
          <a:bodyPr/>
          <a:lstStyle/>
          <a:p>
            <a:endParaRPr lang="en-GB"/>
          </a:p>
        </p:txBody>
      </p:sp>
      <p:cxnSp>
        <p:nvCxnSpPr>
          <p:cNvPr id="17" name="Google Shape;17;p3"/>
          <p:cNvCxnSpPr/>
          <p:nvPr/>
        </p:nvCxnSpPr>
        <p:spPr>
          <a:xfrm>
            <a:off x="3167225" y="539500"/>
            <a:ext cx="6072600" cy="0"/>
          </a:xfrm>
          <a:prstGeom prst="straightConnector1">
            <a:avLst/>
          </a:prstGeom>
          <a:noFill/>
          <a:ln w="9525" cap="flat" cmpd="sng">
            <a:solidFill>
              <a:schemeClr val="dk1"/>
            </a:solidFill>
            <a:prstDash val="solid"/>
            <a:round/>
            <a:headEnd type="none" w="med" len="med"/>
            <a:tailEnd type="none" w="med" len="med"/>
          </a:ln>
        </p:spPr>
      </p:cxnSp>
      <p:cxnSp>
        <p:nvCxnSpPr>
          <p:cNvPr id="18" name="Google Shape;18;p3"/>
          <p:cNvCxnSpPr/>
          <p:nvPr/>
        </p:nvCxnSpPr>
        <p:spPr>
          <a:xfrm rot="10800000">
            <a:off x="843077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713225" y="734725"/>
            <a:ext cx="3737400" cy="1058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7"/>
          <p:cNvSpPr txBox="1">
            <a:spLocks noGrp="1"/>
          </p:cNvSpPr>
          <p:nvPr>
            <p:ph type="subTitle" idx="1"/>
          </p:nvPr>
        </p:nvSpPr>
        <p:spPr>
          <a:xfrm>
            <a:off x="713225" y="1878000"/>
            <a:ext cx="4337400" cy="253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1000"/>
              </a:spcBef>
              <a:spcAft>
                <a:spcPts val="0"/>
              </a:spcAft>
              <a:buClr>
                <a:srgbClr val="E76A28"/>
              </a:buClr>
              <a:buSzPts val="1200"/>
              <a:buChar char="○"/>
              <a:defRPr/>
            </a:lvl2pPr>
            <a:lvl3pPr lvl="2" algn="ctr" rtl="0">
              <a:lnSpc>
                <a:spcPct val="100000"/>
              </a:lnSpc>
              <a:spcBef>
                <a:spcPts val="1600"/>
              </a:spcBef>
              <a:spcAft>
                <a:spcPts val="0"/>
              </a:spcAft>
              <a:buClr>
                <a:srgbClr val="E76A28"/>
              </a:buClr>
              <a:buSzPts val="1200"/>
              <a:buChar char="■"/>
              <a:defRPr/>
            </a:lvl3pPr>
            <a:lvl4pPr lvl="3" algn="ctr" rtl="0">
              <a:lnSpc>
                <a:spcPct val="100000"/>
              </a:lnSpc>
              <a:spcBef>
                <a:spcPts val="1600"/>
              </a:spcBef>
              <a:spcAft>
                <a:spcPts val="0"/>
              </a:spcAft>
              <a:buClr>
                <a:srgbClr val="E76A28"/>
              </a:buClr>
              <a:buSzPts val="1200"/>
              <a:buChar char="●"/>
              <a:defRPr/>
            </a:lvl4pPr>
            <a:lvl5pPr lvl="4" algn="ctr" rtl="0">
              <a:lnSpc>
                <a:spcPct val="100000"/>
              </a:lnSpc>
              <a:spcBef>
                <a:spcPts val="1600"/>
              </a:spcBef>
              <a:spcAft>
                <a:spcPts val="0"/>
              </a:spcAft>
              <a:buClr>
                <a:srgbClr val="E76A28"/>
              </a:buClr>
              <a:buSzPts val="1200"/>
              <a:buChar char="○"/>
              <a:defRPr/>
            </a:lvl5pPr>
            <a:lvl6pPr lvl="5" algn="ctr" rtl="0">
              <a:lnSpc>
                <a:spcPct val="100000"/>
              </a:lnSpc>
              <a:spcBef>
                <a:spcPts val="1600"/>
              </a:spcBef>
              <a:spcAft>
                <a:spcPts val="0"/>
              </a:spcAft>
              <a:buClr>
                <a:srgbClr val="999999"/>
              </a:buClr>
              <a:buSzPts val="1200"/>
              <a:buChar char="■"/>
              <a:defRPr/>
            </a:lvl6pPr>
            <a:lvl7pPr lvl="6" algn="ctr" rtl="0">
              <a:lnSpc>
                <a:spcPct val="100000"/>
              </a:lnSpc>
              <a:spcBef>
                <a:spcPts val="1600"/>
              </a:spcBef>
              <a:spcAft>
                <a:spcPts val="0"/>
              </a:spcAft>
              <a:buClr>
                <a:srgbClr val="999999"/>
              </a:buClr>
              <a:buSzPts val="1200"/>
              <a:buChar char="●"/>
              <a:defRPr/>
            </a:lvl7pPr>
            <a:lvl8pPr lvl="7" algn="ctr" rtl="0">
              <a:lnSpc>
                <a:spcPct val="100000"/>
              </a:lnSpc>
              <a:spcBef>
                <a:spcPts val="1600"/>
              </a:spcBef>
              <a:spcAft>
                <a:spcPts val="0"/>
              </a:spcAft>
              <a:buClr>
                <a:srgbClr val="999999"/>
              </a:buClr>
              <a:buSzPts val="1200"/>
              <a:buChar char="○"/>
              <a:defRPr/>
            </a:lvl8pPr>
            <a:lvl9pPr lvl="8" algn="ctr" rtl="0">
              <a:lnSpc>
                <a:spcPct val="100000"/>
              </a:lnSpc>
              <a:spcBef>
                <a:spcPts val="1600"/>
              </a:spcBef>
              <a:spcAft>
                <a:spcPts val="1600"/>
              </a:spcAft>
              <a:buClr>
                <a:srgbClr val="999999"/>
              </a:buClr>
              <a:buSzPts val="1200"/>
              <a:buChar char="■"/>
              <a:defRPr/>
            </a:lvl9pPr>
          </a:lstStyle>
          <a:p>
            <a:endParaRPr/>
          </a:p>
        </p:txBody>
      </p:sp>
      <p:sp>
        <p:nvSpPr>
          <p:cNvPr id="39" name="Google Shape;39;p7"/>
          <p:cNvSpPr>
            <a:spLocks noGrp="1"/>
          </p:cNvSpPr>
          <p:nvPr>
            <p:ph type="pic" idx="2"/>
          </p:nvPr>
        </p:nvSpPr>
        <p:spPr>
          <a:xfrm>
            <a:off x="5806850" y="658413"/>
            <a:ext cx="2623800" cy="3826800"/>
          </a:xfrm>
          <a:prstGeom prst="rect">
            <a:avLst/>
          </a:prstGeom>
          <a:noFill/>
          <a:ln>
            <a:noFill/>
          </a:ln>
        </p:spPr>
        <p:txBody>
          <a:bodyPr/>
          <a:lstStyle/>
          <a:p>
            <a:endParaRPr lang="en-GB"/>
          </a:p>
        </p:txBody>
      </p:sp>
      <p:cxnSp>
        <p:nvCxnSpPr>
          <p:cNvPr id="40" name="Google Shape;40;p7"/>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7"/>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cxnSp>
        <p:nvCxnSpPr>
          <p:cNvPr id="44" name="Google Shape;44;p8"/>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45" name="Google Shape;45;p8"/>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8" name="Google Shape;48;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cxnSp>
        <p:nvCxnSpPr>
          <p:cNvPr id="49" name="Google Shape;49;p9"/>
          <p:cNvCxnSpPr/>
          <p:nvPr/>
        </p:nvCxnSpPr>
        <p:spPr>
          <a:xfrm>
            <a:off x="3167225" y="539500"/>
            <a:ext cx="6072600" cy="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9"/>
          <p:cNvCxnSpPr/>
          <p:nvPr/>
        </p:nvCxnSpPr>
        <p:spPr>
          <a:xfrm rot="10800000">
            <a:off x="843077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2" name="Google Shape;62;p13"/>
          <p:cNvSpPr txBox="1">
            <a:spLocks noGrp="1"/>
          </p:cNvSpPr>
          <p:nvPr>
            <p:ph type="title" idx="2" hasCustomPrompt="1"/>
          </p:nvPr>
        </p:nvSpPr>
        <p:spPr>
          <a:xfrm>
            <a:off x="720000" y="2648408"/>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title" idx="3" hasCustomPrompt="1"/>
          </p:nvPr>
        </p:nvSpPr>
        <p:spPr>
          <a:xfrm>
            <a:off x="3760200" y="264839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4" hasCustomPrompt="1"/>
          </p:nvPr>
        </p:nvSpPr>
        <p:spPr>
          <a:xfrm>
            <a:off x="720000" y="3247483"/>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title" idx="5" hasCustomPrompt="1"/>
          </p:nvPr>
        </p:nvSpPr>
        <p:spPr>
          <a:xfrm>
            <a:off x="3760200" y="3247466"/>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6" hasCustomPrompt="1"/>
          </p:nvPr>
        </p:nvSpPr>
        <p:spPr>
          <a:xfrm>
            <a:off x="720000" y="3846558"/>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title" idx="7" hasCustomPrompt="1"/>
          </p:nvPr>
        </p:nvSpPr>
        <p:spPr>
          <a:xfrm>
            <a:off x="3760200" y="3846541"/>
            <a:ext cx="734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subTitle" idx="1"/>
          </p:nvPr>
        </p:nvSpPr>
        <p:spPr>
          <a:xfrm>
            <a:off x="1454700" y="264840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9" name="Google Shape;69;p13"/>
          <p:cNvSpPr txBox="1">
            <a:spLocks noGrp="1"/>
          </p:cNvSpPr>
          <p:nvPr>
            <p:ph type="subTitle" idx="8"/>
          </p:nvPr>
        </p:nvSpPr>
        <p:spPr>
          <a:xfrm>
            <a:off x="1454700" y="324747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0" name="Google Shape;70;p13"/>
          <p:cNvSpPr txBox="1">
            <a:spLocks noGrp="1"/>
          </p:cNvSpPr>
          <p:nvPr>
            <p:ph type="subTitle" idx="9"/>
          </p:nvPr>
        </p:nvSpPr>
        <p:spPr>
          <a:xfrm>
            <a:off x="1454700" y="38465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1" name="Google Shape;71;p13"/>
          <p:cNvSpPr txBox="1">
            <a:spLocks noGrp="1"/>
          </p:cNvSpPr>
          <p:nvPr>
            <p:ph type="subTitle" idx="13"/>
          </p:nvPr>
        </p:nvSpPr>
        <p:spPr>
          <a:xfrm>
            <a:off x="4494900" y="264840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2" name="Google Shape;72;p13"/>
          <p:cNvSpPr txBox="1">
            <a:spLocks noGrp="1"/>
          </p:cNvSpPr>
          <p:nvPr>
            <p:ph type="subTitle" idx="14"/>
          </p:nvPr>
        </p:nvSpPr>
        <p:spPr>
          <a:xfrm>
            <a:off x="4494900" y="324747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3" name="Google Shape;73;p13"/>
          <p:cNvSpPr txBox="1">
            <a:spLocks noGrp="1"/>
          </p:cNvSpPr>
          <p:nvPr>
            <p:ph type="subTitle" idx="15"/>
          </p:nvPr>
        </p:nvSpPr>
        <p:spPr>
          <a:xfrm>
            <a:off x="4494900" y="38465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cxnSp>
        <p:nvCxnSpPr>
          <p:cNvPr id="74" name="Google Shape;74;p13"/>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3"/>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82" name="Google Shape;82;p15"/>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83" name="Google Shape;83;p15"/>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 name="Google Shape;116;p21"/>
          <p:cNvSpPr txBox="1">
            <a:spLocks noGrp="1"/>
          </p:cNvSpPr>
          <p:nvPr>
            <p:ph type="subTitle" idx="1"/>
          </p:nvPr>
        </p:nvSpPr>
        <p:spPr>
          <a:xfrm>
            <a:off x="713225" y="3147477"/>
            <a:ext cx="2106900" cy="135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7" name="Google Shape;117;p21"/>
          <p:cNvSpPr txBox="1">
            <a:spLocks noGrp="1"/>
          </p:cNvSpPr>
          <p:nvPr>
            <p:ph type="subTitle" idx="2"/>
          </p:nvPr>
        </p:nvSpPr>
        <p:spPr>
          <a:xfrm>
            <a:off x="3074432" y="3147477"/>
            <a:ext cx="2106900" cy="135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8" name="Google Shape;118;p21"/>
          <p:cNvSpPr txBox="1">
            <a:spLocks noGrp="1"/>
          </p:cNvSpPr>
          <p:nvPr>
            <p:ph type="subTitle" idx="3"/>
          </p:nvPr>
        </p:nvSpPr>
        <p:spPr>
          <a:xfrm>
            <a:off x="5435639" y="3147479"/>
            <a:ext cx="2106900" cy="135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9" name="Google Shape;119;p21"/>
          <p:cNvSpPr txBox="1">
            <a:spLocks noGrp="1"/>
          </p:cNvSpPr>
          <p:nvPr>
            <p:ph type="subTitle" idx="4"/>
          </p:nvPr>
        </p:nvSpPr>
        <p:spPr>
          <a:xfrm>
            <a:off x="713225" y="2494475"/>
            <a:ext cx="2106900" cy="74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20" name="Google Shape;120;p21"/>
          <p:cNvSpPr txBox="1">
            <a:spLocks noGrp="1"/>
          </p:cNvSpPr>
          <p:nvPr>
            <p:ph type="subTitle" idx="5"/>
          </p:nvPr>
        </p:nvSpPr>
        <p:spPr>
          <a:xfrm>
            <a:off x="3074433" y="2494475"/>
            <a:ext cx="2106900" cy="74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21" name="Google Shape;121;p21"/>
          <p:cNvSpPr txBox="1">
            <a:spLocks noGrp="1"/>
          </p:cNvSpPr>
          <p:nvPr>
            <p:ph type="subTitle" idx="6"/>
          </p:nvPr>
        </p:nvSpPr>
        <p:spPr>
          <a:xfrm>
            <a:off x="5435634" y="2494475"/>
            <a:ext cx="2106900" cy="74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cxnSp>
        <p:nvCxnSpPr>
          <p:cNvPr id="122" name="Google Shape;122;p21"/>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123" name="Google Shape;123;p21"/>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22"/>
          <p:cNvSpPr txBox="1">
            <a:spLocks noGrp="1"/>
          </p:cNvSpPr>
          <p:nvPr>
            <p:ph type="subTitle" idx="1"/>
          </p:nvPr>
        </p:nvSpPr>
        <p:spPr>
          <a:xfrm>
            <a:off x="720000" y="1945660"/>
            <a:ext cx="2811000" cy="10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27" name="Google Shape;127;p22"/>
          <p:cNvSpPr txBox="1">
            <a:spLocks noGrp="1"/>
          </p:cNvSpPr>
          <p:nvPr>
            <p:ph type="subTitle" idx="2"/>
          </p:nvPr>
        </p:nvSpPr>
        <p:spPr>
          <a:xfrm>
            <a:off x="4546553" y="1945654"/>
            <a:ext cx="2904600" cy="10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28" name="Google Shape;128;p22"/>
          <p:cNvSpPr txBox="1">
            <a:spLocks noGrp="1"/>
          </p:cNvSpPr>
          <p:nvPr>
            <p:ph type="subTitle" idx="3"/>
          </p:nvPr>
        </p:nvSpPr>
        <p:spPr>
          <a:xfrm>
            <a:off x="720000" y="3515588"/>
            <a:ext cx="2811000" cy="10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29" name="Google Shape;129;p22"/>
          <p:cNvSpPr txBox="1">
            <a:spLocks noGrp="1"/>
          </p:cNvSpPr>
          <p:nvPr>
            <p:ph type="subTitle" idx="4"/>
          </p:nvPr>
        </p:nvSpPr>
        <p:spPr>
          <a:xfrm>
            <a:off x="4546551" y="3515588"/>
            <a:ext cx="2904600" cy="10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0" name="Google Shape;130;p22"/>
          <p:cNvSpPr txBox="1">
            <a:spLocks noGrp="1"/>
          </p:cNvSpPr>
          <p:nvPr>
            <p:ph type="subTitle" idx="5"/>
          </p:nvPr>
        </p:nvSpPr>
        <p:spPr>
          <a:xfrm>
            <a:off x="719999" y="1666404"/>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31" name="Google Shape;131;p22"/>
          <p:cNvSpPr txBox="1">
            <a:spLocks noGrp="1"/>
          </p:cNvSpPr>
          <p:nvPr>
            <p:ph type="subTitle" idx="6"/>
          </p:nvPr>
        </p:nvSpPr>
        <p:spPr>
          <a:xfrm>
            <a:off x="719999" y="3236407"/>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32" name="Google Shape;132;p22"/>
          <p:cNvSpPr txBox="1">
            <a:spLocks noGrp="1"/>
          </p:cNvSpPr>
          <p:nvPr>
            <p:ph type="subTitle" idx="7"/>
          </p:nvPr>
        </p:nvSpPr>
        <p:spPr>
          <a:xfrm>
            <a:off x="4546525" y="1666400"/>
            <a:ext cx="290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33" name="Google Shape;133;p22"/>
          <p:cNvSpPr txBox="1">
            <a:spLocks noGrp="1"/>
          </p:cNvSpPr>
          <p:nvPr>
            <p:ph type="subTitle" idx="8"/>
          </p:nvPr>
        </p:nvSpPr>
        <p:spPr>
          <a:xfrm>
            <a:off x="4546525" y="3236407"/>
            <a:ext cx="290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cxnSp>
        <p:nvCxnSpPr>
          <p:cNvPr id="134" name="Google Shape;134;p22"/>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135" name="Google Shape;135;p22"/>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23"/>
          <p:cNvSpPr txBox="1">
            <a:spLocks noGrp="1"/>
          </p:cNvSpPr>
          <p:nvPr>
            <p:ph type="subTitle" idx="1"/>
          </p:nvPr>
        </p:nvSpPr>
        <p:spPr>
          <a:xfrm>
            <a:off x="720025" y="1867400"/>
            <a:ext cx="24693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9" name="Google Shape;139;p23"/>
          <p:cNvSpPr txBox="1">
            <a:spLocks noGrp="1"/>
          </p:cNvSpPr>
          <p:nvPr>
            <p:ph type="subTitle" idx="2"/>
          </p:nvPr>
        </p:nvSpPr>
        <p:spPr>
          <a:xfrm>
            <a:off x="3282145" y="1867410"/>
            <a:ext cx="25797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0" name="Google Shape;140;p23"/>
          <p:cNvSpPr txBox="1">
            <a:spLocks noGrp="1"/>
          </p:cNvSpPr>
          <p:nvPr>
            <p:ph type="subTitle" idx="3"/>
          </p:nvPr>
        </p:nvSpPr>
        <p:spPr>
          <a:xfrm>
            <a:off x="720025" y="3544702"/>
            <a:ext cx="24693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1" name="Google Shape;141;p23"/>
          <p:cNvSpPr txBox="1">
            <a:spLocks noGrp="1"/>
          </p:cNvSpPr>
          <p:nvPr>
            <p:ph type="subTitle" idx="4"/>
          </p:nvPr>
        </p:nvSpPr>
        <p:spPr>
          <a:xfrm>
            <a:off x="3282155" y="3544703"/>
            <a:ext cx="25797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2" name="Google Shape;142;p23"/>
          <p:cNvSpPr txBox="1">
            <a:spLocks noGrp="1"/>
          </p:cNvSpPr>
          <p:nvPr>
            <p:ph type="subTitle" idx="5"/>
          </p:nvPr>
        </p:nvSpPr>
        <p:spPr>
          <a:xfrm>
            <a:off x="5954680" y="1867406"/>
            <a:ext cx="24693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3" name="Google Shape;143;p23"/>
          <p:cNvSpPr txBox="1">
            <a:spLocks noGrp="1"/>
          </p:cNvSpPr>
          <p:nvPr>
            <p:ph type="subTitle" idx="6"/>
          </p:nvPr>
        </p:nvSpPr>
        <p:spPr>
          <a:xfrm>
            <a:off x="5954699" y="3544702"/>
            <a:ext cx="2469300" cy="105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4" name="Google Shape;144;p23"/>
          <p:cNvSpPr txBox="1">
            <a:spLocks noGrp="1"/>
          </p:cNvSpPr>
          <p:nvPr>
            <p:ph type="subTitle" idx="7"/>
          </p:nvPr>
        </p:nvSpPr>
        <p:spPr>
          <a:xfrm>
            <a:off x="720025" y="1305419"/>
            <a:ext cx="24693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5" name="Google Shape;145;p23"/>
          <p:cNvSpPr txBox="1">
            <a:spLocks noGrp="1"/>
          </p:cNvSpPr>
          <p:nvPr>
            <p:ph type="subTitle" idx="8"/>
          </p:nvPr>
        </p:nvSpPr>
        <p:spPr>
          <a:xfrm>
            <a:off x="3282145" y="1305419"/>
            <a:ext cx="25773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6" name="Google Shape;146;p23"/>
          <p:cNvSpPr txBox="1">
            <a:spLocks noGrp="1"/>
          </p:cNvSpPr>
          <p:nvPr>
            <p:ph type="subTitle" idx="9"/>
          </p:nvPr>
        </p:nvSpPr>
        <p:spPr>
          <a:xfrm>
            <a:off x="5954680" y="1305419"/>
            <a:ext cx="24669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7" name="Google Shape;147;p23"/>
          <p:cNvSpPr txBox="1">
            <a:spLocks noGrp="1"/>
          </p:cNvSpPr>
          <p:nvPr>
            <p:ph type="subTitle" idx="13"/>
          </p:nvPr>
        </p:nvSpPr>
        <p:spPr>
          <a:xfrm>
            <a:off x="720025" y="2985210"/>
            <a:ext cx="24693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8" name="Google Shape;148;p23"/>
          <p:cNvSpPr txBox="1">
            <a:spLocks noGrp="1"/>
          </p:cNvSpPr>
          <p:nvPr>
            <p:ph type="subTitle" idx="14"/>
          </p:nvPr>
        </p:nvSpPr>
        <p:spPr>
          <a:xfrm>
            <a:off x="3282145" y="2985206"/>
            <a:ext cx="25773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49" name="Google Shape;149;p23"/>
          <p:cNvSpPr txBox="1">
            <a:spLocks noGrp="1"/>
          </p:cNvSpPr>
          <p:nvPr>
            <p:ph type="subTitle" idx="15"/>
          </p:nvPr>
        </p:nvSpPr>
        <p:spPr>
          <a:xfrm>
            <a:off x="5954680" y="2985200"/>
            <a:ext cx="2469300" cy="67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cxnSp>
        <p:nvCxnSpPr>
          <p:cNvPr id="150" name="Google Shape;150;p23"/>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23"/>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58"/>
        <p:cNvGrpSpPr/>
        <p:nvPr/>
      </p:nvGrpSpPr>
      <p:grpSpPr>
        <a:xfrm>
          <a:off x="0" y="0"/>
          <a:ext cx="0" cy="0"/>
          <a:chOff x="0" y="0"/>
          <a:chExt cx="0" cy="0"/>
        </a:xfrm>
      </p:grpSpPr>
      <p:cxnSp>
        <p:nvCxnSpPr>
          <p:cNvPr id="159" name="Google Shape;159;p25"/>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160" name="Google Shape;160;p25"/>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layfair Display Medium"/>
              <a:buNone/>
              <a:defRPr sz="2800">
                <a:solidFill>
                  <a:schemeClr val="dk1"/>
                </a:solidFill>
                <a:latin typeface="Playfair Display Medium"/>
                <a:ea typeface="Playfair Display Medium"/>
                <a:cs typeface="Playfair Display Medium"/>
                <a:sym typeface="Playfair Display Medium"/>
              </a:defRPr>
            </a:lvl1pPr>
            <a:lvl2pPr lvl="1"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2pPr>
            <a:lvl3pPr lvl="2"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3pPr>
            <a:lvl4pPr lvl="3"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4pPr>
            <a:lvl5pPr lvl="4"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5pPr>
            <a:lvl6pPr lvl="5"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6pPr>
            <a:lvl7pPr lvl="6"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7pPr>
            <a:lvl8pPr lvl="7"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8pPr>
            <a:lvl9pPr lvl="8" rtl="0">
              <a:spcBef>
                <a:spcPts val="0"/>
              </a:spcBef>
              <a:spcAft>
                <a:spcPts val="0"/>
              </a:spcAft>
              <a:buClr>
                <a:schemeClr val="dk1"/>
              </a:buClr>
              <a:buSzPts val="3000"/>
              <a:buFont typeface="Playfair Display"/>
              <a:buNone/>
              <a:defRPr sz="3000" b="1">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8" r:id="rId6"/>
    <p:sldLayoutId id="2147483659" r:id="rId7"/>
    <p:sldLayoutId id="2147483661" r:id="rId8"/>
    <p:sldLayoutId id="2147483667" r:id="rId9"/>
    <p:sldLayoutId id="2147483668" r:id="rId10"/>
    <p:sldLayoutId id="2147483669" r:id="rId11"/>
    <p:sldLayoutId id="214748367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p:nvSpPr>
          <p:cNvPr id="174" name="Google Shape;174;p30"/>
          <p:cNvSpPr txBox="1">
            <a:spLocks noGrp="1"/>
          </p:cNvSpPr>
          <p:nvPr>
            <p:ph type="ctrTitle"/>
          </p:nvPr>
        </p:nvSpPr>
        <p:spPr>
          <a:xfrm>
            <a:off x="564542" y="615208"/>
            <a:ext cx="4595700" cy="189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800" dirty="0"/>
              <a:t>Campus </a:t>
            </a:r>
            <a:br>
              <a:rPr lang="en" sz="4800" dirty="0"/>
            </a:br>
            <a:r>
              <a:rPr lang="en" sz="4800" dirty="0"/>
              <a:t>Marketplace</a:t>
            </a:r>
            <a:endParaRPr sz="4800" dirty="0"/>
          </a:p>
        </p:txBody>
      </p:sp>
      <p:sp>
        <p:nvSpPr>
          <p:cNvPr id="175" name="Google Shape;175;p30"/>
          <p:cNvSpPr txBox="1">
            <a:spLocks noGrp="1"/>
          </p:cNvSpPr>
          <p:nvPr>
            <p:ph type="subTitle" idx="1"/>
          </p:nvPr>
        </p:nvSpPr>
        <p:spPr>
          <a:xfrm>
            <a:off x="616580" y="2673065"/>
            <a:ext cx="2208900" cy="168334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Georgia Pro Cond" panose="02040506050405020303" pitchFamily="18" charset="0"/>
                <a:cs typeface="Forte Forward" panose="020F0502020204030204" pitchFamily="2" charset="0"/>
              </a:rPr>
              <a:t>‘Team A’</a:t>
            </a:r>
          </a:p>
          <a:p>
            <a:pPr marL="0" lvl="0" indent="0" algn="l" rtl="0">
              <a:spcBef>
                <a:spcPts val="0"/>
              </a:spcBef>
              <a:spcAft>
                <a:spcPts val="0"/>
              </a:spcAft>
              <a:buNone/>
            </a:pPr>
            <a:r>
              <a:rPr lang="en" dirty="0">
                <a:latin typeface="Georgia Pro Light" panose="02040302050405020303" pitchFamily="18" charset="0"/>
              </a:rPr>
              <a:t>Ore</a:t>
            </a:r>
          </a:p>
          <a:p>
            <a:pPr marL="0" lvl="0" indent="0"/>
            <a:r>
              <a:rPr lang="en" dirty="0">
                <a:latin typeface="Georgia Pro Light" panose="02040302050405020303" pitchFamily="18" charset="0"/>
              </a:rPr>
              <a:t>Tess</a:t>
            </a:r>
          </a:p>
          <a:p>
            <a:pPr marL="0" lvl="0" indent="0" algn="l" rtl="0">
              <a:spcBef>
                <a:spcPts val="0"/>
              </a:spcBef>
              <a:spcAft>
                <a:spcPts val="0"/>
              </a:spcAft>
              <a:buNone/>
            </a:pPr>
            <a:r>
              <a:rPr lang="en" dirty="0">
                <a:latin typeface="Georgia Pro Light" panose="02040302050405020303" pitchFamily="18" charset="0"/>
              </a:rPr>
              <a:t>Hayden</a:t>
            </a:r>
          </a:p>
          <a:p>
            <a:pPr marL="0" lvl="0" indent="0" algn="l" rtl="0">
              <a:spcBef>
                <a:spcPts val="0"/>
              </a:spcBef>
              <a:spcAft>
                <a:spcPts val="0"/>
              </a:spcAft>
              <a:buNone/>
            </a:pPr>
            <a:r>
              <a:rPr lang="en" dirty="0">
                <a:latin typeface="Georgia Pro Light" panose="02040302050405020303" pitchFamily="18" charset="0"/>
              </a:rPr>
              <a:t>Robert</a:t>
            </a:r>
          </a:p>
          <a:p>
            <a:pPr marL="0" lvl="0" indent="0" algn="l" rtl="0">
              <a:spcBef>
                <a:spcPts val="0"/>
              </a:spcBef>
              <a:spcAft>
                <a:spcPts val="0"/>
              </a:spcAft>
              <a:buNone/>
            </a:pPr>
            <a:r>
              <a:rPr lang="en" dirty="0">
                <a:latin typeface="Georgia Pro Light" panose="02040302050405020303" pitchFamily="18" charset="0"/>
              </a:rPr>
              <a:t>Radiance</a:t>
            </a:r>
          </a:p>
          <a:p>
            <a:pPr marL="0" lvl="0" indent="0" algn="l" rtl="0">
              <a:spcBef>
                <a:spcPts val="0"/>
              </a:spcBef>
              <a:spcAft>
                <a:spcPts val="0"/>
              </a:spcAft>
              <a:buNone/>
            </a:pPr>
            <a:r>
              <a:rPr lang="en" dirty="0">
                <a:latin typeface="Georgia Pro Light" panose="02040302050405020303" pitchFamily="18" charset="0"/>
              </a:rPr>
              <a:t>Parisan</a:t>
            </a:r>
            <a:endParaRPr dirty="0">
              <a:latin typeface="Georgia Pro Light" panose="02040302050405020303" pitchFamily="18" charset="0"/>
            </a:endParaRPr>
          </a:p>
        </p:txBody>
      </p:sp>
      <p:pic>
        <p:nvPicPr>
          <p:cNvPr id="13" name="Picture 12">
            <a:extLst>
              <a:ext uri="{FF2B5EF4-FFF2-40B4-BE49-F238E27FC236}">
                <a16:creationId xmlns:a16="http://schemas.microsoft.com/office/drawing/2014/main" id="{6E912DC1-2679-373E-941E-AAE11B920211}"/>
              </a:ext>
            </a:extLst>
          </p:cNvPr>
          <p:cNvPicPr>
            <a:picLocks noChangeAspect="1"/>
          </p:cNvPicPr>
          <p:nvPr/>
        </p:nvPicPr>
        <p:blipFill>
          <a:blip r:embed="rId3"/>
          <a:srcRect l="21063" t="10160" r="20447" b="14446"/>
          <a:stretch>
            <a:fillRect/>
          </a:stretch>
        </p:blipFill>
        <p:spPr>
          <a:xfrm>
            <a:off x="5069585" y="961867"/>
            <a:ext cx="2497873" cy="32197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CONTENTS</a:t>
            </a:r>
            <a:endParaRPr dirty="0"/>
          </a:p>
        </p:txBody>
      </p:sp>
      <p:sp>
        <p:nvSpPr>
          <p:cNvPr id="191" name="Google Shape;191;p32"/>
          <p:cNvSpPr txBox="1">
            <a:spLocks noGrp="1"/>
          </p:cNvSpPr>
          <p:nvPr>
            <p:ph type="title" idx="2"/>
          </p:nvPr>
        </p:nvSpPr>
        <p:spPr>
          <a:xfrm>
            <a:off x="720000" y="142922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o1</a:t>
            </a:r>
            <a:endParaRPr dirty="0"/>
          </a:p>
        </p:txBody>
      </p:sp>
      <p:sp>
        <p:nvSpPr>
          <p:cNvPr id="192" name="Google Shape;192;p32"/>
          <p:cNvSpPr txBox="1">
            <a:spLocks noGrp="1"/>
          </p:cNvSpPr>
          <p:nvPr>
            <p:ph type="title" idx="3"/>
          </p:nvPr>
        </p:nvSpPr>
        <p:spPr>
          <a:xfrm>
            <a:off x="3760200" y="1429206"/>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93" name="Google Shape;193;p32"/>
          <p:cNvSpPr txBox="1">
            <a:spLocks noGrp="1"/>
          </p:cNvSpPr>
          <p:nvPr>
            <p:ph type="title" idx="4"/>
          </p:nvPr>
        </p:nvSpPr>
        <p:spPr>
          <a:xfrm>
            <a:off x="720000" y="2028298"/>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94" name="Google Shape;194;p32"/>
          <p:cNvSpPr txBox="1">
            <a:spLocks noGrp="1"/>
          </p:cNvSpPr>
          <p:nvPr>
            <p:ph type="title" idx="5"/>
          </p:nvPr>
        </p:nvSpPr>
        <p:spPr>
          <a:xfrm>
            <a:off x="3760200" y="2028281"/>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
        <p:nvSpPr>
          <p:cNvPr id="195" name="Google Shape;195;p32"/>
          <p:cNvSpPr txBox="1">
            <a:spLocks noGrp="1"/>
          </p:cNvSpPr>
          <p:nvPr>
            <p:ph type="title" idx="6"/>
          </p:nvPr>
        </p:nvSpPr>
        <p:spPr>
          <a:xfrm>
            <a:off x="720000" y="2627373"/>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96" name="Google Shape;196;p32"/>
          <p:cNvSpPr txBox="1">
            <a:spLocks noGrp="1"/>
          </p:cNvSpPr>
          <p:nvPr>
            <p:ph type="title" idx="7"/>
          </p:nvPr>
        </p:nvSpPr>
        <p:spPr>
          <a:xfrm>
            <a:off x="3760200" y="2627356"/>
            <a:ext cx="734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07</a:t>
            </a:r>
            <a:endParaRPr dirty="0"/>
          </a:p>
        </p:txBody>
      </p:sp>
      <p:sp>
        <p:nvSpPr>
          <p:cNvPr id="197" name="Google Shape;197;p32"/>
          <p:cNvSpPr txBox="1">
            <a:spLocks noGrp="1"/>
          </p:cNvSpPr>
          <p:nvPr>
            <p:ph type="subTitle" idx="1"/>
          </p:nvPr>
        </p:nvSpPr>
        <p:spPr>
          <a:xfrm>
            <a:off x="1454700" y="1429215"/>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Overview</a:t>
            </a:r>
            <a:endParaRPr dirty="0"/>
          </a:p>
        </p:txBody>
      </p:sp>
      <p:sp>
        <p:nvSpPr>
          <p:cNvPr id="198" name="Google Shape;198;p32"/>
          <p:cNvSpPr txBox="1">
            <a:spLocks noGrp="1"/>
          </p:cNvSpPr>
          <p:nvPr>
            <p:ph type="subTitle" idx="8"/>
          </p:nvPr>
        </p:nvSpPr>
        <p:spPr>
          <a:xfrm>
            <a:off x="1454700" y="2028290"/>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User personas</a:t>
            </a:r>
            <a:endParaRPr dirty="0"/>
          </a:p>
        </p:txBody>
      </p:sp>
      <p:sp>
        <p:nvSpPr>
          <p:cNvPr id="199" name="Google Shape;199;p32"/>
          <p:cNvSpPr txBox="1">
            <a:spLocks noGrp="1"/>
          </p:cNvSpPr>
          <p:nvPr>
            <p:ph type="subTitle" idx="9"/>
          </p:nvPr>
        </p:nvSpPr>
        <p:spPr>
          <a:xfrm>
            <a:off x="1454700" y="2627365"/>
            <a:ext cx="2305500" cy="447600"/>
          </a:xfrm>
          <a:prstGeom prst="rect">
            <a:avLst/>
          </a:prstGeom>
        </p:spPr>
        <p:txBody>
          <a:bodyPr spcFirstLastPara="1" wrap="square" lIns="91425" tIns="91425" rIns="91425" bIns="91425" anchor="b" anchorCtr="0">
            <a:noAutofit/>
          </a:bodyPr>
          <a:lstStyle/>
          <a:p>
            <a:pPr marL="0" lvl="0" indent="0"/>
            <a:r>
              <a:rPr lang="en" dirty="0"/>
              <a:t>Specification</a:t>
            </a:r>
            <a:endParaRPr dirty="0"/>
          </a:p>
        </p:txBody>
      </p:sp>
      <p:sp>
        <p:nvSpPr>
          <p:cNvPr id="200" name="Google Shape;200;p32"/>
          <p:cNvSpPr txBox="1">
            <a:spLocks noGrp="1"/>
          </p:cNvSpPr>
          <p:nvPr>
            <p:ph type="subTitle" idx="13"/>
          </p:nvPr>
        </p:nvSpPr>
        <p:spPr>
          <a:xfrm>
            <a:off x="4494899" y="1429215"/>
            <a:ext cx="3586017"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System architecture diagram</a:t>
            </a:r>
            <a:endParaRPr dirty="0"/>
          </a:p>
        </p:txBody>
      </p:sp>
      <p:sp>
        <p:nvSpPr>
          <p:cNvPr id="201" name="Google Shape;201;p32"/>
          <p:cNvSpPr txBox="1">
            <a:spLocks noGrp="1"/>
          </p:cNvSpPr>
          <p:nvPr>
            <p:ph type="subTitle" idx="14"/>
          </p:nvPr>
        </p:nvSpPr>
        <p:spPr>
          <a:xfrm>
            <a:off x="4494900" y="2028290"/>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ER diagram</a:t>
            </a:r>
            <a:endParaRPr dirty="0"/>
          </a:p>
        </p:txBody>
      </p:sp>
      <p:sp>
        <p:nvSpPr>
          <p:cNvPr id="202" name="Google Shape;202;p32"/>
          <p:cNvSpPr txBox="1">
            <a:spLocks noGrp="1"/>
          </p:cNvSpPr>
          <p:nvPr>
            <p:ph type="subTitle" idx="15"/>
          </p:nvPr>
        </p:nvSpPr>
        <p:spPr>
          <a:xfrm>
            <a:off x="4494900" y="2627365"/>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Wireframes</a:t>
            </a:r>
            <a:endParaRPr dirty="0"/>
          </a:p>
        </p:txBody>
      </p:sp>
      <p:sp>
        <p:nvSpPr>
          <p:cNvPr id="2" name="Google Shape;196;p32">
            <a:extLst>
              <a:ext uri="{FF2B5EF4-FFF2-40B4-BE49-F238E27FC236}">
                <a16:creationId xmlns:a16="http://schemas.microsoft.com/office/drawing/2014/main" id="{60218918-D642-E252-0FA0-75733A52698B}"/>
              </a:ext>
            </a:extLst>
          </p:cNvPr>
          <p:cNvSpPr txBox="1">
            <a:spLocks/>
          </p:cNvSpPr>
          <p:nvPr/>
        </p:nvSpPr>
        <p:spPr>
          <a:xfrm>
            <a:off x="3797369" y="3226422"/>
            <a:ext cx="7347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layfair Display Medium"/>
              <a:buNone/>
              <a:defRPr sz="3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9pPr>
          </a:lstStyle>
          <a:p>
            <a:r>
              <a:rPr lang="en" dirty="0"/>
              <a:t>08</a:t>
            </a:r>
          </a:p>
        </p:txBody>
      </p:sp>
      <p:sp>
        <p:nvSpPr>
          <p:cNvPr id="3" name="Google Shape;202;p32">
            <a:extLst>
              <a:ext uri="{FF2B5EF4-FFF2-40B4-BE49-F238E27FC236}">
                <a16:creationId xmlns:a16="http://schemas.microsoft.com/office/drawing/2014/main" id="{ACC4E073-04E2-FDFF-9AB8-C560CD2367E6}"/>
              </a:ext>
            </a:extLst>
          </p:cNvPr>
          <p:cNvSpPr txBox="1">
            <a:spLocks/>
          </p:cNvSpPr>
          <p:nvPr/>
        </p:nvSpPr>
        <p:spPr>
          <a:xfrm>
            <a:off x="4509767" y="3171586"/>
            <a:ext cx="2305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GB" dirty="0"/>
              <a:t>Walkthrough</a:t>
            </a:r>
          </a:p>
        </p:txBody>
      </p:sp>
      <p:sp>
        <p:nvSpPr>
          <p:cNvPr id="5" name="Google Shape;202;p32">
            <a:extLst>
              <a:ext uri="{FF2B5EF4-FFF2-40B4-BE49-F238E27FC236}">
                <a16:creationId xmlns:a16="http://schemas.microsoft.com/office/drawing/2014/main" id="{C3EBC8DA-D60F-F489-C564-788602D42D44}"/>
              </a:ext>
            </a:extLst>
          </p:cNvPr>
          <p:cNvSpPr txBox="1">
            <a:spLocks/>
          </p:cNvSpPr>
          <p:nvPr/>
        </p:nvSpPr>
        <p:spPr>
          <a:xfrm>
            <a:off x="1514171" y="3171586"/>
            <a:ext cx="2305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GB"/>
              <a:t>Wireframes</a:t>
            </a:r>
            <a:endParaRPr lang="en-GB" dirty="0"/>
          </a:p>
        </p:txBody>
      </p:sp>
      <p:sp>
        <p:nvSpPr>
          <p:cNvPr id="6" name="Google Shape;195;p32">
            <a:extLst>
              <a:ext uri="{FF2B5EF4-FFF2-40B4-BE49-F238E27FC236}">
                <a16:creationId xmlns:a16="http://schemas.microsoft.com/office/drawing/2014/main" id="{CF447402-4260-EE9F-CEE7-3EFC50637744}"/>
              </a:ext>
            </a:extLst>
          </p:cNvPr>
          <p:cNvSpPr txBox="1">
            <a:spLocks/>
          </p:cNvSpPr>
          <p:nvPr/>
        </p:nvSpPr>
        <p:spPr>
          <a:xfrm>
            <a:off x="734868" y="3196686"/>
            <a:ext cx="7347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Playfair Display Medium"/>
              <a:buNone/>
              <a:defRPr sz="3000" b="0" i="0" u="none" strike="noStrike" cap="none">
                <a:solidFill>
                  <a:schemeClr val="dk1"/>
                </a:solidFill>
                <a:latin typeface="Playfair Display Medium"/>
                <a:ea typeface="Playfair Display Medium"/>
                <a:cs typeface="Playfair Display Medium"/>
                <a:sym typeface="Playfair Display Medium"/>
              </a:defRPr>
            </a:lvl1pPr>
            <a:lvl2pPr marR="0" lvl="1"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000"/>
              <a:buFont typeface="Playfair Display"/>
              <a:buNone/>
              <a:defRPr sz="3000" b="1" i="0" u="none" strike="noStrike" cap="none">
                <a:solidFill>
                  <a:schemeClr val="dk1"/>
                </a:solidFill>
                <a:latin typeface="Playfair Display"/>
                <a:ea typeface="Playfair Display"/>
                <a:cs typeface="Playfair Display"/>
                <a:sym typeface="Playfair Display"/>
              </a:defRPr>
            </a:lvl9pPr>
          </a:lstStyle>
          <a:p>
            <a:r>
              <a:rPr lang="en" dirty="0"/>
              <a:t>04</a:t>
            </a:r>
          </a:p>
        </p:txBody>
      </p:sp>
      <p:pic>
        <p:nvPicPr>
          <p:cNvPr id="7" name="Picture 6">
            <a:extLst>
              <a:ext uri="{FF2B5EF4-FFF2-40B4-BE49-F238E27FC236}">
                <a16:creationId xmlns:a16="http://schemas.microsoft.com/office/drawing/2014/main" id="{F43BD2BC-A235-FF24-D87B-C0DEEB8CF023}"/>
              </a:ext>
            </a:extLst>
          </p:cNvPr>
          <p:cNvPicPr>
            <a:picLocks noChangeAspect="1"/>
          </p:cNvPicPr>
          <p:nvPr/>
        </p:nvPicPr>
        <p:blipFill>
          <a:blip r:embed="rId3"/>
          <a:srcRect l="21063" t="10160" r="20447" b="14446"/>
          <a:stretch>
            <a:fillRect/>
          </a:stretch>
        </p:blipFill>
        <p:spPr>
          <a:xfrm flipH="1">
            <a:off x="8495446" y="24385"/>
            <a:ext cx="198627"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713225" y="734725"/>
            <a:ext cx="37374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dirty="0"/>
              <a:t>Overview</a:t>
            </a:r>
            <a:endParaRPr i="1" dirty="0"/>
          </a:p>
        </p:txBody>
      </p:sp>
      <p:sp>
        <p:nvSpPr>
          <p:cNvPr id="208" name="Google Shape;208;p33"/>
          <p:cNvSpPr txBox="1">
            <a:spLocks noGrp="1"/>
          </p:cNvSpPr>
          <p:nvPr>
            <p:ph type="subTitle" idx="1"/>
          </p:nvPr>
        </p:nvSpPr>
        <p:spPr>
          <a:xfrm>
            <a:off x="616583" y="1446820"/>
            <a:ext cx="4337400" cy="2530800"/>
          </a:xfrm>
          <a:prstGeom prst="rect">
            <a:avLst/>
          </a:prstGeom>
        </p:spPr>
        <p:txBody>
          <a:bodyPr spcFirstLastPara="1" wrap="square" lIns="91425" tIns="91425" rIns="91425" bIns="91425" anchor="t" anchorCtr="0">
            <a:noAutofit/>
          </a:bodyPr>
          <a:lstStyle/>
          <a:p>
            <a:pPr marL="152400" indent="0">
              <a:buNone/>
            </a:pPr>
            <a:r>
              <a:rPr lang="en" dirty="0"/>
              <a:t>A </a:t>
            </a:r>
            <a:r>
              <a:rPr lang="en-GB" dirty="0"/>
              <a:t>Campus Marketplace is an application designed specifically for university students to buy and sell second-hand items within their campus community.</a:t>
            </a:r>
          </a:p>
          <a:p>
            <a:pPr marL="152400" indent="0">
              <a:buNone/>
            </a:pPr>
            <a:endParaRPr lang="en-GB" dirty="0"/>
          </a:p>
          <a:p>
            <a:pPr marL="152400" indent="0">
              <a:buNone/>
            </a:pPr>
            <a:r>
              <a:rPr lang="en-GB" dirty="0"/>
              <a:t>The application supports students who are:</a:t>
            </a:r>
          </a:p>
          <a:p>
            <a:pPr marL="152400" indent="0">
              <a:buNone/>
            </a:pPr>
            <a:endParaRPr lang="en-GB" dirty="0"/>
          </a:p>
          <a:p>
            <a:r>
              <a:rPr lang="en-GB" sz="1100" dirty="0"/>
              <a:t>Moving into accommodation and need affordable items</a:t>
            </a:r>
          </a:p>
          <a:p>
            <a:r>
              <a:rPr lang="en-GB" dirty="0"/>
              <a:t>Moving out and want to sell unwanted belongings</a:t>
            </a:r>
          </a:p>
        </p:txBody>
      </p:sp>
      <p:pic>
        <p:nvPicPr>
          <p:cNvPr id="12" name="Picture Placeholder 11">
            <a:extLst>
              <a:ext uri="{FF2B5EF4-FFF2-40B4-BE49-F238E27FC236}">
                <a16:creationId xmlns:a16="http://schemas.microsoft.com/office/drawing/2014/main" id="{95D3506F-F743-21E7-588C-EB91573FF094}"/>
              </a:ext>
            </a:extLst>
          </p:cNvPr>
          <p:cNvPicPr>
            <a:picLocks noGrp="1" noChangeAspect="1"/>
          </p:cNvPicPr>
          <p:nvPr>
            <p:ph type="pic" idx="2"/>
          </p:nvPr>
        </p:nvPicPr>
        <p:blipFill>
          <a:blip r:embed="rId3"/>
          <a:srcRect l="30709" r="30709"/>
          <a:stretch>
            <a:fillRect/>
          </a:stretch>
        </p:blipFill>
        <p:spPr>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Picture 16">
            <a:extLst>
              <a:ext uri="{FF2B5EF4-FFF2-40B4-BE49-F238E27FC236}">
                <a16:creationId xmlns:a16="http://schemas.microsoft.com/office/drawing/2014/main" id="{CB4FBFB8-EE14-E93E-FBA6-14C250C0768B}"/>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B2A6BC9F-DC9A-E2FC-60A6-B0D21E3F088B}"/>
              </a:ext>
            </a:extLst>
          </p:cNvPr>
          <p:cNvPicPr>
            <a:picLocks noGrp="1" noChangeAspect="1"/>
          </p:cNvPicPr>
          <p:nvPr>
            <p:ph type="pic" idx="3"/>
          </p:nvPr>
        </p:nvPicPr>
        <p:blipFill>
          <a:blip r:embed="rId3"/>
          <a:srcRect t="4320" b="4320"/>
          <a:stretch>
            <a:fillRect/>
          </a:stretch>
        </p:blipFill>
        <p:spPr>
          <a:xfrm rot="5400000">
            <a:off x="4866481" y="1421606"/>
            <a:ext cx="3827463" cy="2622550"/>
          </a:xfrm>
          <a:prstGeom prst="rect">
            <a:avLst/>
          </a:prstGeom>
          <a:noFill/>
          <a:ln>
            <a:noFill/>
          </a:ln>
        </p:spPr>
      </p:pic>
      <p:sp>
        <p:nvSpPr>
          <p:cNvPr id="10" name="Google Shape;284;p39">
            <a:extLst>
              <a:ext uri="{FF2B5EF4-FFF2-40B4-BE49-F238E27FC236}">
                <a16:creationId xmlns:a16="http://schemas.microsoft.com/office/drawing/2014/main" id="{8A540517-922E-F154-40B3-DC7D74BDA620}"/>
              </a:ext>
            </a:extLst>
          </p:cNvPr>
          <p:cNvSpPr txBox="1">
            <a:spLocks noGrp="1"/>
          </p:cNvSpPr>
          <p:nvPr>
            <p:ph type="title"/>
          </p:nvPr>
        </p:nvSpPr>
        <p:spPr>
          <a:xfrm>
            <a:off x="436210" y="1032701"/>
            <a:ext cx="3538463" cy="7737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dirty="0"/>
              <a:t>Persona One </a:t>
            </a:r>
            <a:r>
              <a:rPr lang="en" sz="1100" dirty="0"/>
              <a:t>(Robert)</a:t>
            </a:r>
            <a:endParaRPr sz="3500" dirty="0"/>
          </a:p>
        </p:txBody>
      </p:sp>
      <p:sp>
        <p:nvSpPr>
          <p:cNvPr id="12" name="TextBox 11">
            <a:extLst>
              <a:ext uri="{FF2B5EF4-FFF2-40B4-BE49-F238E27FC236}">
                <a16:creationId xmlns:a16="http://schemas.microsoft.com/office/drawing/2014/main" id="{D9DC71AF-CB6A-FD0A-2440-1403020E5187}"/>
              </a:ext>
            </a:extLst>
          </p:cNvPr>
          <p:cNvSpPr txBox="1"/>
          <p:nvPr/>
        </p:nvSpPr>
        <p:spPr>
          <a:xfrm>
            <a:off x="436210" y="1954205"/>
            <a:ext cx="4624038" cy="2031325"/>
          </a:xfrm>
          <a:prstGeom prst="rect">
            <a:avLst/>
          </a:prstGeom>
          <a:noFill/>
        </p:spPr>
        <p:txBody>
          <a:bodyPr wrap="square">
            <a:spAutoFit/>
          </a:bodyPr>
          <a:lstStyle/>
          <a:p>
            <a:r>
              <a:rPr lang="en-US" sz="1400" b="0" i="0" u="none" strike="noStrike" dirty="0">
                <a:solidFill>
                  <a:srgbClr val="000000"/>
                </a:solidFill>
                <a:effectLst/>
                <a:latin typeface="DM Sans" pitchFamily="2" charset="0"/>
              </a:rPr>
              <a:t>This is Robert, a student at Glasgow university. </a:t>
            </a:r>
          </a:p>
          <a:p>
            <a:r>
              <a:rPr lang="en-US" sz="1400" b="0" i="0" u="none" strike="noStrike" dirty="0">
                <a:solidFill>
                  <a:srgbClr val="000000"/>
                </a:solidFill>
                <a:effectLst/>
                <a:latin typeface="DM Sans" pitchFamily="2" charset="0"/>
              </a:rPr>
              <a:t>He recently lost a good deal of money while “strategically</a:t>
            </a:r>
            <a:r>
              <a:rPr lang="en-US" dirty="0">
                <a:latin typeface="DM Sans" pitchFamily="2" charset="0"/>
              </a:rPr>
              <a:t> </a:t>
            </a:r>
            <a:r>
              <a:rPr lang="en-US" sz="1400" b="0" i="0" u="none" strike="noStrike" dirty="0">
                <a:solidFill>
                  <a:srgbClr val="000000"/>
                </a:solidFill>
                <a:effectLst/>
                <a:latin typeface="DM Sans" pitchFamily="2" charset="0"/>
              </a:rPr>
              <a:t>investing” in card games. He needs money, so naturally decides to gather old belongings and sell them to make some money. </a:t>
            </a:r>
          </a:p>
          <a:p>
            <a:r>
              <a:rPr lang="en-US" sz="1400" b="0" i="0" u="none" strike="noStrike" dirty="0">
                <a:solidFill>
                  <a:srgbClr val="000000"/>
                </a:solidFill>
                <a:effectLst/>
                <a:latin typeface="DM Sans" pitchFamily="2" charset="0"/>
              </a:rPr>
              <a:t>He uses a new website called Campus Marketplace to sell these belongings. Within a short time, another student named Ore had purchased Robert’s items and Robert made some money.</a:t>
            </a:r>
            <a:endParaRPr lang="en-GB" dirty="0">
              <a:latin typeface="DM Sans" pitchFamily="2" charset="0"/>
            </a:endParaRPr>
          </a:p>
        </p:txBody>
      </p:sp>
      <p:pic>
        <p:nvPicPr>
          <p:cNvPr id="2" name="Picture 1">
            <a:extLst>
              <a:ext uri="{FF2B5EF4-FFF2-40B4-BE49-F238E27FC236}">
                <a16:creationId xmlns:a16="http://schemas.microsoft.com/office/drawing/2014/main" id="{6517D9DB-2FCA-1658-1C70-375200040BE3}"/>
              </a:ext>
            </a:extLst>
          </p:cNvPr>
          <p:cNvPicPr>
            <a:picLocks noChangeAspect="1"/>
          </p:cNvPicPr>
          <p:nvPr/>
        </p:nvPicPr>
        <p:blipFill>
          <a:blip r:embed="rId4"/>
          <a:srcRect l="21063" t="10160" r="20447" b="14446"/>
          <a:stretch>
            <a:fillRect/>
          </a:stretch>
        </p:blipFill>
        <p:spPr>
          <a:xfrm flipH="1">
            <a:off x="8117494" y="158497"/>
            <a:ext cx="198627"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BD3959D1-E458-D11D-A0A7-261852DC1B1E}"/>
            </a:ext>
          </a:extLst>
        </p:cNvPr>
        <p:cNvGrpSpPr/>
        <p:nvPr/>
      </p:nvGrpSpPr>
      <p:grpSpPr>
        <a:xfrm>
          <a:off x="0" y="0"/>
          <a:ext cx="0" cy="0"/>
          <a:chOff x="0" y="0"/>
          <a:chExt cx="0" cy="0"/>
        </a:xfrm>
      </p:grpSpPr>
      <p:sp>
        <p:nvSpPr>
          <p:cNvPr id="10" name="Google Shape;284;p39">
            <a:extLst>
              <a:ext uri="{FF2B5EF4-FFF2-40B4-BE49-F238E27FC236}">
                <a16:creationId xmlns:a16="http://schemas.microsoft.com/office/drawing/2014/main" id="{73B99215-C44B-BD38-511E-3F962E1AEDDE}"/>
              </a:ext>
            </a:extLst>
          </p:cNvPr>
          <p:cNvSpPr txBox="1">
            <a:spLocks noGrp="1"/>
          </p:cNvSpPr>
          <p:nvPr>
            <p:ph type="title"/>
          </p:nvPr>
        </p:nvSpPr>
        <p:spPr>
          <a:xfrm>
            <a:off x="436210" y="1032701"/>
            <a:ext cx="3538463" cy="7737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dirty="0"/>
              <a:t>Persona Two </a:t>
            </a:r>
            <a:r>
              <a:rPr lang="en" sz="1100" dirty="0"/>
              <a:t>(Ore)</a:t>
            </a:r>
            <a:endParaRPr sz="1100" dirty="0"/>
          </a:p>
        </p:txBody>
      </p:sp>
      <p:pic>
        <p:nvPicPr>
          <p:cNvPr id="5" name="Picture Placeholder 4">
            <a:extLst>
              <a:ext uri="{FF2B5EF4-FFF2-40B4-BE49-F238E27FC236}">
                <a16:creationId xmlns:a16="http://schemas.microsoft.com/office/drawing/2014/main" id="{05802CF7-AB80-764C-B3A7-66BB9304D3D6}"/>
              </a:ext>
            </a:extLst>
          </p:cNvPr>
          <p:cNvPicPr>
            <a:picLocks noGrp="1" noChangeAspect="1"/>
          </p:cNvPicPr>
          <p:nvPr>
            <p:ph type="pic" idx="3"/>
          </p:nvPr>
        </p:nvPicPr>
        <p:blipFill>
          <a:blip r:embed="rId3"/>
          <a:srcRect t="4320" b="4320"/>
          <a:stretch>
            <a:fillRect/>
          </a:stretch>
        </p:blipFill>
        <p:spPr>
          <a:xfrm rot="5400000">
            <a:off x="4866481" y="1421606"/>
            <a:ext cx="3827463" cy="2622550"/>
          </a:xfrm>
          <a:prstGeom prst="rect">
            <a:avLst/>
          </a:prstGeom>
          <a:noFill/>
          <a:ln>
            <a:noFill/>
          </a:ln>
        </p:spPr>
      </p:pic>
      <p:sp>
        <p:nvSpPr>
          <p:cNvPr id="6" name="TextBox 5">
            <a:extLst>
              <a:ext uri="{FF2B5EF4-FFF2-40B4-BE49-F238E27FC236}">
                <a16:creationId xmlns:a16="http://schemas.microsoft.com/office/drawing/2014/main" id="{C37AE967-FED5-3910-B1A6-00B61DDF3D1D}"/>
              </a:ext>
            </a:extLst>
          </p:cNvPr>
          <p:cNvSpPr txBox="1"/>
          <p:nvPr/>
        </p:nvSpPr>
        <p:spPr>
          <a:xfrm>
            <a:off x="436210" y="1954205"/>
            <a:ext cx="4425722" cy="2031325"/>
          </a:xfrm>
          <a:prstGeom prst="rect">
            <a:avLst/>
          </a:prstGeom>
          <a:noFill/>
        </p:spPr>
        <p:txBody>
          <a:bodyPr wrap="square">
            <a:spAutoFit/>
          </a:bodyPr>
          <a:lstStyle/>
          <a:p>
            <a:r>
              <a:rPr lang="en-GB" sz="1400" b="0" i="0" u="none" strike="noStrike" dirty="0">
                <a:solidFill>
                  <a:srgbClr val="000000"/>
                </a:solidFill>
                <a:effectLst/>
                <a:latin typeface="DM Sans" pitchFamily="2" charset="0"/>
              </a:rPr>
              <a:t>This is Ore, a humble student at Glasgow</a:t>
            </a:r>
          </a:p>
          <a:p>
            <a:r>
              <a:rPr lang="en-GB" sz="1400" b="0" i="0" u="none" strike="noStrike" dirty="0">
                <a:solidFill>
                  <a:srgbClr val="000000"/>
                </a:solidFill>
                <a:effectLst/>
                <a:latin typeface="DM Sans" pitchFamily="2" charset="0"/>
              </a:rPr>
              <a:t>university. Ore has just moved flat and needs</a:t>
            </a:r>
          </a:p>
          <a:p>
            <a:r>
              <a:rPr lang="en-GB" sz="1400" b="0" i="0" u="none" strike="noStrike" dirty="0">
                <a:solidFill>
                  <a:srgbClr val="000000"/>
                </a:solidFill>
                <a:effectLst/>
                <a:latin typeface="DM Sans" pitchFamily="2" charset="0"/>
              </a:rPr>
              <a:t>some bargain items after spending a lot of</a:t>
            </a:r>
          </a:p>
          <a:p>
            <a:r>
              <a:rPr lang="en-GB" sz="1400" b="0" i="0" u="none" strike="noStrike" dirty="0">
                <a:solidFill>
                  <a:srgbClr val="000000"/>
                </a:solidFill>
                <a:effectLst/>
                <a:latin typeface="DM Sans" pitchFamily="2" charset="0"/>
              </a:rPr>
              <a:t>money for his accommodation. He uses</a:t>
            </a:r>
          </a:p>
          <a:p>
            <a:r>
              <a:rPr lang="en-GB" sz="1400" b="0" i="0" u="none" strike="noStrike" dirty="0">
                <a:solidFill>
                  <a:srgbClr val="000000"/>
                </a:solidFill>
                <a:effectLst/>
                <a:latin typeface="DM Sans" pitchFamily="2" charset="0"/>
              </a:rPr>
              <a:t>Campus Marketplace and finds well-priced</a:t>
            </a:r>
          </a:p>
          <a:p>
            <a:r>
              <a:rPr lang="en-GB" sz="1400" b="0" i="0" u="none" strike="noStrike" dirty="0">
                <a:solidFill>
                  <a:srgbClr val="000000"/>
                </a:solidFill>
                <a:effectLst/>
                <a:latin typeface="DM Sans" pitchFamily="2" charset="0"/>
              </a:rPr>
              <a:t>items listed under RobertTheBoss22. </a:t>
            </a:r>
          </a:p>
          <a:p>
            <a:r>
              <a:rPr lang="en-GB" sz="1400" b="0" i="0" u="none" strike="noStrike" dirty="0">
                <a:solidFill>
                  <a:srgbClr val="000000"/>
                </a:solidFill>
                <a:effectLst/>
                <a:latin typeface="DM Sans" pitchFamily="2" charset="0"/>
              </a:rPr>
              <a:t>He</a:t>
            </a:r>
            <a:r>
              <a:rPr lang="en-GB" dirty="0">
                <a:latin typeface="DM Sans" pitchFamily="2" charset="0"/>
              </a:rPr>
              <a:t> </a:t>
            </a:r>
            <a:r>
              <a:rPr lang="en-GB" sz="1400" b="0" i="0" u="none" strike="noStrike" dirty="0">
                <a:solidFill>
                  <a:srgbClr val="000000"/>
                </a:solidFill>
                <a:effectLst/>
                <a:latin typeface="DM Sans" pitchFamily="2" charset="0"/>
              </a:rPr>
              <a:t>decides to buy these items and is more than happy with the outcome, and even has a little money left over to spend on “Games of Chance”.</a:t>
            </a:r>
            <a:endParaRPr lang="en-GB" dirty="0">
              <a:latin typeface="DM Sans" pitchFamily="2" charset="0"/>
            </a:endParaRPr>
          </a:p>
        </p:txBody>
      </p:sp>
      <p:pic>
        <p:nvPicPr>
          <p:cNvPr id="2" name="Picture 1">
            <a:extLst>
              <a:ext uri="{FF2B5EF4-FFF2-40B4-BE49-F238E27FC236}">
                <a16:creationId xmlns:a16="http://schemas.microsoft.com/office/drawing/2014/main" id="{DB4116C6-A363-6AA6-AFDE-E242B83A537A}"/>
              </a:ext>
            </a:extLst>
          </p:cNvPr>
          <p:cNvPicPr>
            <a:picLocks noChangeAspect="1"/>
          </p:cNvPicPr>
          <p:nvPr/>
        </p:nvPicPr>
        <p:blipFill>
          <a:blip r:embed="rId4"/>
          <a:srcRect l="21063" t="10160" r="20447" b="14446"/>
          <a:stretch>
            <a:fillRect/>
          </a:stretch>
        </p:blipFill>
        <p:spPr>
          <a:xfrm flipH="1">
            <a:off x="8141878" y="134113"/>
            <a:ext cx="198627" cy="256032"/>
          </a:xfrm>
          <a:prstGeom prst="rect">
            <a:avLst/>
          </a:prstGeom>
        </p:spPr>
      </p:pic>
    </p:spTree>
    <p:extLst>
      <p:ext uri="{BB962C8B-B14F-4D97-AF65-F5344CB8AC3E}">
        <p14:creationId xmlns:p14="http://schemas.microsoft.com/office/powerpoint/2010/main" val="637488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83F79C76-028F-B552-E095-94A63AD79F58}"/>
            </a:ext>
          </a:extLst>
        </p:cNvPr>
        <p:cNvGrpSpPr/>
        <p:nvPr/>
      </p:nvGrpSpPr>
      <p:grpSpPr>
        <a:xfrm>
          <a:off x="0" y="0"/>
          <a:ext cx="0" cy="0"/>
          <a:chOff x="0" y="0"/>
          <a:chExt cx="0" cy="0"/>
        </a:xfrm>
      </p:grpSpPr>
      <p:sp>
        <p:nvSpPr>
          <p:cNvPr id="10" name="Google Shape;284;p39">
            <a:extLst>
              <a:ext uri="{FF2B5EF4-FFF2-40B4-BE49-F238E27FC236}">
                <a16:creationId xmlns:a16="http://schemas.microsoft.com/office/drawing/2014/main" id="{A6E28B21-0F53-5D1A-F400-326EF5AEAD44}"/>
              </a:ext>
            </a:extLst>
          </p:cNvPr>
          <p:cNvSpPr txBox="1">
            <a:spLocks noGrp="1"/>
          </p:cNvSpPr>
          <p:nvPr>
            <p:ph type="title"/>
          </p:nvPr>
        </p:nvSpPr>
        <p:spPr>
          <a:xfrm>
            <a:off x="436210" y="1032701"/>
            <a:ext cx="4135790" cy="7737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dirty="0"/>
              <a:t>Persona Three</a:t>
            </a:r>
            <a:r>
              <a:rPr lang="en" sz="1100" dirty="0"/>
              <a:t>  (Tess)</a:t>
            </a:r>
            <a:endParaRPr sz="1100" dirty="0"/>
          </a:p>
        </p:txBody>
      </p:sp>
      <p:pic>
        <p:nvPicPr>
          <p:cNvPr id="7" name="Picture Placeholder 6">
            <a:extLst>
              <a:ext uri="{FF2B5EF4-FFF2-40B4-BE49-F238E27FC236}">
                <a16:creationId xmlns:a16="http://schemas.microsoft.com/office/drawing/2014/main" id="{E7C5C73F-04C0-797C-600F-68DD27149064}"/>
              </a:ext>
            </a:extLst>
          </p:cNvPr>
          <p:cNvPicPr>
            <a:picLocks noGrp="1" noChangeAspect="1"/>
          </p:cNvPicPr>
          <p:nvPr>
            <p:ph type="pic" idx="3"/>
          </p:nvPr>
        </p:nvPicPr>
        <p:blipFill>
          <a:blip r:embed="rId3"/>
          <a:srcRect l="4604" r="4604"/>
          <a:stretch>
            <a:fillRect/>
          </a:stretch>
        </p:blipFill>
        <p:spPr>
          <a:xfrm>
            <a:off x="5468450" y="819367"/>
            <a:ext cx="2623800" cy="3826800"/>
          </a:xfrm>
          <a:prstGeom prst="rect">
            <a:avLst/>
          </a:prstGeom>
          <a:noFill/>
          <a:ln>
            <a:noFill/>
          </a:ln>
        </p:spPr>
      </p:pic>
      <p:sp>
        <p:nvSpPr>
          <p:cNvPr id="14" name="TextBox 13">
            <a:extLst>
              <a:ext uri="{FF2B5EF4-FFF2-40B4-BE49-F238E27FC236}">
                <a16:creationId xmlns:a16="http://schemas.microsoft.com/office/drawing/2014/main" id="{AD6D83E6-3133-518B-A999-BED709727690}"/>
              </a:ext>
            </a:extLst>
          </p:cNvPr>
          <p:cNvSpPr txBox="1"/>
          <p:nvPr/>
        </p:nvSpPr>
        <p:spPr>
          <a:xfrm>
            <a:off x="436210" y="1954205"/>
            <a:ext cx="4624038" cy="1384995"/>
          </a:xfrm>
          <a:prstGeom prst="rect">
            <a:avLst/>
          </a:prstGeom>
          <a:noFill/>
        </p:spPr>
        <p:txBody>
          <a:bodyPr wrap="square">
            <a:spAutoFit/>
          </a:bodyPr>
          <a:lstStyle/>
          <a:p>
            <a:r>
              <a:rPr lang="en-US" dirty="0">
                <a:latin typeface="DM Sans" pitchFamily="2" charset="0"/>
              </a:rPr>
              <a:t>This is Tess (middle), she is a lecturer at Glasgow university. She is looking to sell her old stationery (pens, pencils etc.). She figures students will need them with pen and paper exams becoming popular again. She decides to list them on Campus Marketplace and makes some quick cash. </a:t>
            </a:r>
            <a:endParaRPr lang="en-GB" dirty="0">
              <a:latin typeface="DM Sans" pitchFamily="2" charset="0"/>
            </a:endParaRPr>
          </a:p>
        </p:txBody>
      </p:sp>
      <p:pic>
        <p:nvPicPr>
          <p:cNvPr id="2" name="Picture 1">
            <a:extLst>
              <a:ext uri="{FF2B5EF4-FFF2-40B4-BE49-F238E27FC236}">
                <a16:creationId xmlns:a16="http://schemas.microsoft.com/office/drawing/2014/main" id="{20DD2E10-2543-FC6F-4D6E-84B731321C81}"/>
              </a:ext>
            </a:extLst>
          </p:cNvPr>
          <p:cNvPicPr>
            <a:picLocks noChangeAspect="1"/>
          </p:cNvPicPr>
          <p:nvPr/>
        </p:nvPicPr>
        <p:blipFill>
          <a:blip r:embed="rId4"/>
          <a:srcRect l="21063" t="10160" r="20447" b="14446"/>
          <a:stretch>
            <a:fillRect/>
          </a:stretch>
        </p:blipFill>
        <p:spPr>
          <a:xfrm flipH="1">
            <a:off x="8166262" y="170689"/>
            <a:ext cx="198627" cy="256032"/>
          </a:xfrm>
          <a:prstGeom prst="rect">
            <a:avLst/>
          </a:prstGeom>
        </p:spPr>
      </p:pic>
    </p:spTree>
    <p:extLst>
      <p:ext uri="{BB962C8B-B14F-4D97-AF65-F5344CB8AC3E}">
        <p14:creationId xmlns:p14="http://schemas.microsoft.com/office/powerpoint/2010/main" val="79202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09DC239B-D210-C05A-AA89-0A0953235585}"/>
            </a:ext>
          </a:extLst>
        </p:cNvPr>
        <p:cNvGrpSpPr/>
        <p:nvPr/>
      </p:nvGrpSpPr>
      <p:grpSpPr>
        <a:xfrm>
          <a:off x="0" y="0"/>
          <a:ext cx="0" cy="0"/>
          <a:chOff x="0" y="0"/>
          <a:chExt cx="0" cy="0"/>
        </a:xfrm>
      </p:grpSpPr>
      <p:sp>
        <p:nvSpPr>
          <p:cNvPr id="214" name="Google Shape;214;p34">
            <a:extLst>
              <a:ext uri="{FF2B5EF4-FFF2-40B4-BE49-F238E27FC236}">
                <a16:creationId xmlns:a16="http://schemas.microsoft.com/office/drawing/2014/main" id="{679EAB8B-2271-967F-A1A9-B0BD410321D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GB" b="1" dirty="0"/>
              <a:t>Requirements (MoSCoW)</a:t>
            </a:r>
            <a:endParaRPr i="1" dirty="0"/>
          </a:p>
        </p:txBody>
      </p:sp>
      <p:sp>
        <p:nvSpPr>
          <p:cNvPr id="217" name="Google Shape;217;p34">
            <a:extLst>
              <a:ext uri="{FF2B5EF4-FFF2-40B4-BE49-F238E27FC236}">
                <a16:creationId xmlns:a16="http://schemas.microsoft.com/office/drawing/2014/main" id="{548BAE8E-E9EC-66C2-C40D-15350A0A372F}"/>
              </a:ext>
            </a:extLst>
          </p:cNvPr>
          <p:cNvSpPr txBox="1">
            <a:spLocks noGrp="1"/>
          </p:cNvSpPr>
          <p:nvPr>
            <p:ph type="subTitle" idx="1"/>
          </p:nvPr>
        </p:nvSpPr>
        <p:spPr>
          <a:xfrm>
            <a:off x="564995" y="1733411"/>
            <a:ext cx="3092605" cy="2720124"/>
          </a:xfrm>
          <a:prstGeom prst="rect">
            <a:avLst/>
          </a:prstGeom>
        </p:spPr>
        <p:txBody>
          <a:bodyPr spcFirstLastPara="1" wrap="square" lIns="91425" tIns="91425" rIns="91425" bIns="91425" anchor="t" anchorCtr="0">
            <a:noAutofit/>
          </a:bodyPr>
          <a:lstStyle/>
          <a:p>
            <a:pPr marL="323850" lvl="0" indent="-171450">
              <a:buFont typeface="Arial" panose="020B0604020202020204" pitchFamily="34" charset="0"/>
              <a:buChar char="•"/>
            </a:pPr>
            <a:r>
              <a:rPr lang="en-GB" dirty="0"/>
              <a:t>Users must be able to create an account and log in</a:t>
            </a:r>
          </a:p>
          <a:p>
            <a:pPr marL="323850" lvl="0" indent="-171450">
              <a:buFont typeface="Arial" panose="020B0604020202020204" pitchFamily="34" charset="0"/>
              <a:buChar char="•"/>
            </a:pPr>
            <a:r>
              <a:rPr lang="en-GB" dirty="0"/>
              <a:t>Users must be able to list items for sale and upload photos for each item</a:t>
            </a:r>
          </a:p>
          <a:p>
            <a:pPr marL="323850" lvl="0" indent="-171450">
              <a:buFont typeface="Arial" panose="020B0604020202020204" pitchFamily="34" charset="0"/>
              <a:buChar char="•"/>
            </a:pPr>
            <a:r>
              <a:rPr lang="en-GB" dirty="0"/>
              <a:t>Users must be able to browse and search for items by category or keyword</a:t>
            </a:r>
          </a:p>
          <a:p>
            <a:pPr marL="323850" lvl="0" indent="-171450">
              <a:buFont typeface="Arial" panose="020B0604020202020204" pitchFamily="34" charset="0"/>
              <a:buChar char="•"/>
            </a:pPr>
            <a:r>
              <a:rPr lang="en-GB" dirty="0"/>
              <a:t>Users must be able to add and view item descriptions</a:t>
            </a:r>
          </a:p>
          <a:p>
            <a:pPr marL="323850" lvl="0" indent="-171450">
              <a:buFont typeface="Arial" panose="020B0604020202020204" pitchFamily="34" charset="0"/>
              <a:buChar char="•"/>
            </a:pPr>
            <a:r>
              <a:rPr lang="en-GB" dirty="0"/>
              <a:t>Users must be able to purchase items using in‑app virtual currency</a:t>
            </a:r>
          </a:p>
          <a:p>
            <a:pPr marL="323850" lvl="0" indent="-171450">
              <a:buFont typeface="Arial" panose="020B0604020202020204" pitchFamily="34" charset="0"/>
              <a:buChar char="•"/>
            </a:pPr>
            <a:r>
              <a:rPr lang="en-GB" dirty="0"/>
              <a:t>Users must have a virtual account balance (top‑up functionality)</a:t>
            </a:r>
          </a:p>
        </p:txBody>
      </p:sp>
      <p:sp>
        <p:nvSpPr>
          <p:cNvPr id="6" name="Google Shape;215;p34">
            <a:extLst>
              <a:ext uri="{FF2B5EF4-FFF2-40B4-BE49-F238E27FC236}">
                <a16:creationId xmlns:a16="http://schemas.microsoft.com/office/drawing/2014/main" id="{FF681A39-533C-32A5-7F4F-B8FA5DEF9146}"/>
              </a:ext>
            </a:extLst>
          </p:cNvPr>
          <p:cNvSpPr txBox="1">
            <a:spLocks/>
          </p:cNvSpPr>
          <p:nvPr/>
        </p:nvSpPr>
        <p:spPr>
          <a:xfrm>
            <a:off x="564995" y="1427509"/>
            <a:ext cx="1553738" cy="3672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r>
              <a:rPr lang="en-GB" sz="1500" b="1" dirty="0"/>
              <a:t>Must have</a:t>
            </a:r>
            <a:endParaRPr lang="en-GB" sz="1500" dirty="0"/>
          </a:p>
        </p:txBody>
      </p:sp>
      <p:sp>
        <p:nvSpPr>
          <p:cNvPr id="9" name="Google Shape;215;p34">
            <a:extLst>
              <a:ext uri="{FF2B5EF4-FFF2-40B4-BE49-F238E27FC236}">
                <a16:creationId xmlns:a16="http://schemas.microsoft.com/office/drawing/2014/main" id="{82C4DB84-EDE6-B901-6E36-06556C8CC5E0}"/>
              </a:ext>
            </a:extLst>
          </p:cNvPr>
          <p:cNvSpPr txBox="1">
            <a:spLocks/>
          </p:cNvSpPr>
          <p:nvPr/>
        </p:nvSpPr>
        <p:spPr>
          <a:xfrm>
            <a:off x="3969834" y="1427508"/>
            <a:ext cx="1553738" cy="3672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r>
              <a:rPr lang="en-GB" sz="1500" b="1" dirty="0"/>
              <a:t>Should have</a:t>
            </a:r>
            <a:endParaRPr lang="en-GB" sz="1500" dirty="0"/>
          </a:p>
        </p:txBody>
      </p:sp>
      <p:sp>
        <p:nvSpPr>
          <p:cNvPr id="10" name="Google Shape;217;p34">
            <a:extLst>
              <a:ext uri="{FF2B5EF4-FFF2-40B4-BE49-F238E27FC236}">
                <a16:creationId xmlns:a16="http://schemas.microsoft.com/office/drawing/2014/main" id="{7375E49D-B213-B141-2F48-1FEA962FC965}"/>
              </a:ext>
            </a:extLst>
          </p:cNvPr>
          <p:cNvSpPr txBox="1">
            <a:spLocks/>
          </p:cNvSpPr>
          <p:nvPr/>
        </p:nvSpPr>
        <p:spPr>
          <a:xfrm>
            <a:off x="3969834" y="1724931"/>
            <a:ext cx="3650166" cy="11068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1pPr>
            <a:lvl2pPr marL="914400" marR="0" lvl="1" indent="-304800" algn="ctr"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2pPr>
            <a:lvl3pPr marL="1371600" marR="0" lvl="2"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3pPr>
            <a:lvl4pPr marL="1828800" marR="0" lvl="3"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4pPr>
            <a:lvl5pPr marL="2286000" marR="0" lvl="4"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5pPr>
            <a:lvl6pPr marL="2743200" marR="0" lvl="5"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6pPr>
            <a:lvl7pPr marL="3200400" marR="0" lvl="6"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7pPr>
            <a:lvl8pPr marL="3657600" marR="0" lvl="7"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8pPr>
            <a:lvl9pPr marL="4114800" marR="0" lvl="8" indent="-304800" algn="ctr" rtl="0">
              <a:lnSpc>
                <a:spcPct val="100000"/>
              </a:lnSpc>
              <a:spcBef>
                <a:spcPts val="1600"/>
              </a:spcBef>
              <a:spcAft>
                <a:spcPts val="1600"/>
              </a:spcAft>
              <a:buClr>
                <a:schemeClr val="dk1"/>
              </a:buClr>
              <a:buSzPts val="1200"/>
              <a:buFont typeface="DM Sans"/>
              <a:buNone/>
              <a:defRPr sz="1200" b="0" i="0" u="none" strike="noStrike" cap="none">
                <a:solidFill>
                  <a:schemeClr val="dk1"/>
                </a:solidFill>
                <a:latin typeface="DM Sans"/>
                <a:ea typeface="DM Sans"/>
                <a:cs typeface="DM Sans"/>
                <a:sym typeface="DM Sans"/>
              </a:defRPr>
            </a:lvl9pPr>
          </a:lstStyle>
          <a:p>
            <a:pPr marL="323850" lvl="0" indent="-171450">
              <a:buFont typeface="Arial" panose="020B0604020202020204" pitchFamily="34" charset="0"/>
              <a:buChar char="•"/>
            </a:pPr>
            <a:r>
              <a:rPr lang="en-GB" dirty="0"/>
              <a:t>Users should be able to edit their profile</a:t>
            </a:r>
          </a:p>
          <a:p>
            <a:pPr marL="323850" lvl="0" indent="-171450">
              <a:buFont typeface="Arial" panose="020B0604020202020204" pitchFamily="34" charset="0"/>
              <a:buChar char="•"/>
            </a:pPr>
            <a:r>
              <a:rPr lang="en-GB" dirty="0"/>
              <a:t>Users should be able to mark items as sold</a:t>
            </a:r>
          </a:p>
          <a:p>
            <a:pPr marL="323850" lvl="0" indent="-171450">
              <a:buFont typeface="Arial" panose="020B0604020202020204" pitchFamily="34" charset="0"/>
              <a:buChar char="•"/>
            </a:pPr>
            <a:r>
              <a:rPr lang="en-GB" dirty="0"/>
              <a:t>Users should be able to view their past purchases and sales</a:t>
            </a:r>
          </a:p>
          <a:p>
            <a:pPr>
              <a:buFont typeface="Arial" panose="020B0604020202020204" pitchFamily="34" charset="0"/>
              <a:buChar char="•"/>
            </a:pPr>
            <a:endParaRPr lang="en-GB" dirty="0"/>
          </a:p>
        </p:txBody>
      </p:sp>
      <p:sp>
        <p:nvSpPr>
          <p:cNvPr id="11" name="Google Shape;215;p34">
            <a:extLst>
              <a:ext uri="{FF2B5EF4-FFF2-40B4-BE49-F238E27FC236}">
                <a16:creationId xmlns:a16="http://schemas.microsoft.com/office/drawing/2014/main" id="{93443FE2-6AAC-302A-42E6-7AD1FF678264}"/>
              </a:ext>
            </a:extLst>
          </p:cNvPr>
          <p:cNvSpPr txBox="1">
            <a:spLocks/>
          </p:cNvSpPr>
          <p:nvPr/>
        </p:nvSpPr>
        <p:spPr>
          <a:xfrm>
            <a:off x="3969834" y="2622727"/>
            <a:ext cx="1553738" cy="3672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r>
              <a:rPr lang="en-GB" sz="1500" b="1" dirty="0"/>
              <a:t>Could have</a:t>
            </a:r>
            <a:endParaRPr lang="en-GB" sz="1500" dirty="0"/>
          </a:p>
        </p:txBody>
      </p:sp>
      <p:sp>
        <p:nvSpPr>
          <p:cNvPr id="14" name="Google Shape;217;p34">
            <a:extLst>
              <a:ext uri="{FF2B5EF4-FFF2-40B4-BE49-F238E27FC236}">
                <a16:creationId xmlns:a16="http://schemas.microsoft.com/office/drawing/2014/main" id="{C0E3F85E-AB44-231C-CB0E-6AC682FC69BD}"/>
              </a:ext>
            </a:extLst>
          </p:cNvPr>
          <p:cNvSpPr txBox="1">
            <a:spLocks/>
          </p:cNvSpPr>
          <p:nvPr/>
        </p:nvSpPr>
        <p:spPr>
          <a:xfrm>
            <a:off x="3934521" y="2948378"/>
            <a:ext cx="372079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1pPr>
            <a:lvl2pPr marL="914400" marR="0" lvl="1" indent="-304800" algn="ctr"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2pPr>
            <a:lvl3pPr marL="1371600" marR="0" lvl="2"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3pPr>
            <a:lvl4pPr marL="1828800" marR="0" lvl="3"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4pPr>
            <a:lvl5pPr marL="2286000" marR="0" lvl="4"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5pPr>
            <a:lvl6pPr marL="2743200" marR="0" lvl="5"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6pPr>
            <a:lvl7pPr marL="3200400" marR="0" lvl="6"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7pPr>
            <a:lvl8pPr marL="3657600" marR="0" lvl="7"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8pPr>
            <a:lvl9pPr marL="4114800" marR="0" lvl="8" indent="-304800" algn="ctr" rtl="0">
              <a:lnSpc>
                <a:spcPct val="100000"/>
              </a:lnSpc>
              <a:spcBef>
                <a:spcPts val="1600"/>
              </a:spcBef>
              <a:spcAft>
                <a:spcPts val="1600"/>
              </a:spcAft>
              <a:buClr>
                <a:schemeClr val="dk1"/>
              </a:buClr>
              <a:buSzPts val="1200"/>
              <a:buFont typeface="DM Sans"/>
              <a:buNone/>
              <a:defRPr sz="1200" b="0" i="0" u="none" strike="noStrike" cap="none">
                <a:solidFill>
                  <a:schemeClr val="dk1"/>
                </a:solidFill>
                <a:latin typeface="DM Sans"/>
                <a:ea typeface="DM Sans"/>
                <a:cs typeface="DM Sans"/>
                <a:sym typeface="DM Sans"/>
              </a:defRPr>
            </a:lvl9pPr>
          </a:lstStyle>
          <a:p>
            <a:pPr marL="323850" lvl="0" indent="-171450">
              <a:buFont typeface="Arial" panose="020B0604020202020204" pitchFamily="34" charset="0"/>
              <a:buChar char="•"/>
            </a:pPr>
            <a:r>
              <a:rPr lang="en-GB" dirty="0"/>
              <a:t>Users could save items to a wish list for later</a:t>
            </a:r>
          </a:p>
          <a:p>
            <a:pPr marL="323850" lvl="0" indent="-171450">
              <a:buFont typeface="Arial" panose="020B0604020202020204" pitchFamily="34" charset="0"/>
              <a:buChar char="•"/>
            </a:pPr>
            <a:r>
              <a:rPr lang="en-GB" dirty="0"/>
              <a:t>Buyers could leave feedback</a:t>
            </a:r>
          </a:p>
          <a:p>
            <a:pPr>
              <a:buFont typeface="Arial" panose="020B0604020202020204" pitchFamily="34" charset="0"/>
              <a:buChar char="•"/>
            </a:pPr>
            <a:endParaRPr lang="en-GB" dirty="0"/>
          </a:p>
        </p:txBody>
      </p:sp>
      <p:sp>
        <p:nvSpPr>
          <p:cNvPr id="15" name="Google Shape;215;p34">
            <a:extLst>
              <a:ext uri="{FF2B5EF4-FFF2-40B4-BE49-F238E27FC236}">
                <a16:creationId xmlns:a16="http://schemas.microsoft.com/office/drawing/2014/main" id="{D6F11B23-3BC6-95C8-BBBB-982955967313}"/>
              </a:ext>
            </a:extLst>
          </p:cNvPr>
          <p:cNvSpPr txBox="1">
            <a:spLocks/>
          </p:cNvSpPr>
          <p:nvPr/>
        </p:nvSpPr>
        <p:spPr>
          <a:xfrm>
            <a:off x="3969834" y="3496923"/>
            <a:ext cx="1553738" cy="36722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2000" b="0" i="0" u="none" strike="noStrike" cap="none">
                <a:solidFill>
                  <a:schemeClr val="dk1"/>
                </a:solidFill>
                <a:latin typeface="Playfair Display Medium"/>
                <a:ea typeface="Playfair Display Medium"/>
                <a:cs typeface="Playfair Display Medium"/>
                <a:sym typeface="Playfair Display Medium"/>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r>
              <a:rPr lang="en-GB" sz="1500" b="1" dirty="0"/>
              <a:t>Won’t have</a:t>
            </a:r>
            <a:endParaRPr lang="en-GB" sz="1500" dirty="0"/>
          </a:p>
        </p:txBody>
      </p:sp>
      <p:sp>
        <p:nvSpPr>
          <p:cNvPr id="16" name="Google Shape;217;p34">
            <a:extLst>
              <a:ext uri="{FF2B5EF4-FFF2-40B4-BE49-F238E27FC236}">
                <a16:creationId xmlns:a16="http://schemas.microsoft.com/office/drawing/2014/main" id="{C8D1D737-90CB-27C5-34FC-D96BA3C7612B}"/>
              </a:ext>
            </a:extLst>
          </p:cNvPr>
          <p:cNvSpPr txBox="1">
            <a:spLocks/>
          </p:cNvSpPr>
          <p:nvPr/>
        </p:nvSpPr>
        <p:spPr>
          <a:xfrm>
            <a:off x="3975410" y="3817946"/>
            <a:ext cx="3720791" cy="8527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1pPr>
            <a:lvl2pPr marL="914400" marR="0" lvl="1" indent="-304800" algn="ctr" rtl="0">
              <a:lnSpc>
                <a:spcPct val="100000"/>
              </a:lnSpc>
              <a:spcBef>
                <a:spcPts val="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2pPr>
            <a:lvl3pPr marL="1371600" marR="0" lvl="2"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3pPr>
            <a:lvl4pPr marL="1828800" marR="0" lvl="3"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4pPr>
            <a:lvl5pPr marL="2286000" marR="0" lvl="4"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5pPr>
            <a:lvl6pPr marL="2743200" marR="0" lvl="5"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6pPr>
            <a:lvl7pPr marL="3200400" marR="0" lvl="6"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7pPr>
            <a:lvl8pPr marL="3657600" marR="0" lvl="7" indent="-304800" algn="ctr" rtl="0">
              <a:lnSpc>
                <a:spcPct val="100000"/>
              </a:lnSpc>
              <a:spcBef>
                <a:spcPts val="1600"/>
              </a:spcBef>
              <a:spcAft>
                <a:spcPts val="0"/>
              </a:spcAft>
              <a:buClr>
                <a:schemeClr val="dk1"/>
              </a:buClr>
              <a:buSzPts val="1200"/>
              <a:buFont typeface="DM Sans"/>
              <a:buNone/>
              <a:defRPr sz="1200" b="0" i="0" u="none" strike="noStrike" cap="none">
                <a:solidFill>
                  <a:schemeClr val="dk1"/>
                </a:solidFill>
                <a:latin typeface="DM Sans"/>
                <a:ea typeface="DM Sans"/>
                <a:cs typeface="DM Sans"/>
                <a:sym typeface="DM Sans"/>
              </a:defRPr>
            </a:lvl8pPr>
            <a:lvl9pPr marL="4114800" marR="0" lvl="8" indent="-304800" algn="ctr" rtl="0">
              <a:lnSpc>
                <a:spcPct val="100000"/>
              </a:lnSpc>
              <a:spcBef>
                <a:spcPts val="1600"/>
              </a:spcBef>
              <a:spcAft>
                <a:spcPts val="1600"/>
              </a:spcAft>
              <a:buClr>
                <a:schemeClr val="dk1"/>
              </a:buClr>
              <a:buSzPts val="1200"/>
              <a:buFont typeface="DM Sans"/>
              <a:buNone/>
              <a:defRPr sz="1200" b="0" i="0" u="none" strike="noStrike" cap="none">
                <a:solidFill>
                  <a:schemeClr val="dk1"/>
                </a:solidFill>
                <a:latin typeface="DM Sans"/>
                <a:ea typeface="DM Sans"/>
                <a:cs typeface="DM Sans"/>
                <a:sym typeface="DM Sans"/>
              </a:defRPr>
            </a:lvl9pPr>
          </a:lstStyle>
          <a:p>
            <a:pPr marL="323850" lvl="0" indent="-171450">
              <a:buFont typeface="Arial" panose="020B0604020202020204" pitchFamily="34" charset="0"/>
              <a:buChar char="•"/>
            </a:pPr>
            <a:r>
              <a:rPr lang="en-GB" dirty="0"/>
              <a:t>No actual payment handling</a:t>
            </a:r>
          </a:p>
          <a:p>
            <a:pPr marL="323850" lvl="0" indent="-171450">
              <a:buFont typeface="Arial" panose="020B0604020202020204" pitchFamily="34" charset="0"/>
              <a:buChar char="•"/>
            </a:pPr>
            <a:r>
              <a:rPr lang="en-GB" dirty="0"/>
              <a:t>No bidding system</a:t>
            </a:r>
          </a:p>
          <a:p>
            <a:pPr marL="323850" lvl="0" indent="-171450">
              <a:buFont typeface="Arial" panose="020B0604020202020204" pitchFamily="34" charset="0"/>
              <a:buChar char="•"/>
            </a:pPr>
            <a:r>
              <a:rPr lang="en-GB" dirty="0"/>
              <a:t>No other universities can be involved</a:t>
            </a:r>
          </a:p>
        </p:txBody>
      </p:sp>
      <p:pic>
        <p:nvPicPr>
          <p:cNvPr id="2" name="Picture 1">
            <a:extLst>
              <a:ext uri="{FF2B5EF4-FFF2-40B4-BE49-F238E27FC236}">
                <a16:creationId xmlns:a16="http://schemas.microsoft.com/office/drawing/2014/main" id="{63853B11-88F0-9C8E-3B34-97A938052AAD}"/>
              </a:ext>
            </a:extLst>
          </p:cNvPr>
          <p:cNvPicPr>
            <a:picLocks noChangeAspect="1"/>
          </p:cNvPicPr>
          <p:nvPr/>
        </p:nvPicPr>
        <p:blipFill>
          <a:blip r:embed="rId3"/>
          <a:srcRect l="21063" t="10160" r="20447" b="14446"/>
          <a:stretch>
            <a:fillRect/>
          </a:stretch>
        </p:blipFill>
        <p:spPr>
          <a:xfrm flipH="1">
            <a:off x="8483254" y="24385"/>
            <a:ext cx="198627" cy="256032"/>
          </a:xfrm>
          <a:prstGeom prst="rect">
            <a:avLst/>
          </a:prstGeom>
        </p:spPr>
      </p:pic>
    </p:spTree>
    <p:extLst>
      <p:ext uri="{BB962C8B-B14F-4D97-AF65-F5344CB8AC3E}">
        <p14:creationId xmlns:p14="http://schemas.microsoft.com/office/powerpoint/2010/main" val="3047288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0" name="Google Shape;310;p42"/>
          <p:cNvSpPr txBox="1">
            <a:spLocks noGrp="1"/>
          </p:cNvSpPr>
          <p:nvPr>
            <p:ph type="title" idx="4294967295"/>
          </p:nvPr>
        </p:nvSpPr>
        <p:spPr>
          <a:xfrm>
            <a:off x="341970" y="429160"/>
            <a:ext cx="7702550" cy="5730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System Architecture Diagram</a:t>
            </a:r>
            <a:endParaRPr dirty="0"/>
          </a:p>
        </p:txBody>
      </p:sp>
      <p:pic>
        <p:nvPicPr>
          <p:cNvPr id="5" name="Picture 4">
            <a:extLst>
              <a:ext uri="{FF2B5EF4-FFF2-40B4-BE49-F238E27FC236}">
                <a16:creationId xmlns:a16="http://schemas.microsoft.com/office/drawing/2014/main" id="{3A2BDCE3-0BF5-D0BD-B48B-B4FFE8E6A1FD}"/>
              </a:ext>
            </a:extLst>
          </p:cNvPr>
          <p:cNvPicPr>
            <a:picLocks noChangeAspect="1"/>
          </p:cNvPicPr>
          <p:nvPr/>
        </p:nvPicPr>
        <p:blipFill>
          <a:blip r:embed="rId3"/>
          <a:srcRect t="-5930" b="17156"/>
          <a:stretch>
            <a:fillRect/>
          </a:stretch>
        </p:blipFill>
        <p:spPr>
          <a:xfrm>
            <a:off x="720725" y="1002248"/>
            <a:ext cx="7702550" cy="38433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ER Diagram</a:t>
            </a:r>
            <a:endParaRPr dirty="0"/>
          </a:p>
        </p:txBody>
      </p:sp>
      <p:pic>
        <p:nvPicPr>
          <p:cNvPr id="1026" name="Picture 2" descr="A diagram of a flowchart&#10;&#10;AI-generated content may be incorrect.">
            <a:extLst>
              <a:ext uri="{FF2B5EF4-FFF2-40B4-BE49-F238E27FC236}">
                <a16:creationId xmlns:a16="http://schemas.microsoft.com/office/drawing/2014/main" id="{037434EA-B07F-56FE-F49D-C10BC19C4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78" y="1740056"/>
            <a:ext cx="7629322" cy="196958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A159A80-3CD6-5625-B1E6-F48678F6EE4F}"/>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1">
          <a:extLst>
            <a:ext uri="{FF2B5EF4-FFF2-40B4-BE49-F238E27FC236}">
              <a16:creationId xmlns:a16="http://schemas.microsoft.com/office/drawing/2014/main" id="{349B637D-C4D6-35C7-34AD-388F5C407BEF}"/>
            </a:ext>
          </a:extLst>
        </p:cNvPr>
        <p:cNvGrpSpPr/>
        <p:nvPr/>
      </p:nvGrpSpPr>
      <p:grpSpPr>
        <a:xfrm>
          <a:off x="0" y="0"/>
          <a:ext cx="0" cy="0"/>
          <a:chOff x="0" y="0"/>
          <a:chExt cx="0" cy="0"/>
        </a:xfrm>
      </p:grpSpPr>
      <p:sp>
        <p:nvSpPr>
          <p:cNvPr id="322" name="Google Shape;322;p43">
            <a:extLst>
              <a:ext uri="{FF2B5EF4-FFF2-40B4-BE49-F238E27FC236}">
                <a16:creationId xmlns:a16="http://schemas.microsoft.com/office/drawing/2014/main" id="{88ECDEF2-BFDC-3D0F-D89E-6F65DEA9D6D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User entity</a:t>
            </a:r>
            <a:endParaRPr dirty="0"/>
          </a:p>
        </p:txBody>
      </p:sp>
      <p:sp>
        <p:nvSpPr>
          <p:cNvPr id="3" name="Rectangle 1">
            <a:extLst>
              <a:ext uri="{FF2B5EF4-FFF2-40B4-BE49-F238E27FC236}">
                <a16:creationId xmlns:a16="http://schemas.microsoft.com/office/drawing/2014/main" id="{661949E2-C8BB-5B03-2938-45FAEA02BF8B}"/>
              </a:ext>
            </a:extLst>
          </p:cNvPr>
          <p:cNvSpPr>
            <a:spLocks noChangeArrowheads="1"/>
          </p:cNvSpPr>
          <p:nvPr/>
        </p:nvSpPr>
        <p:spPr bwMode="auto">
          <a:xfrm flipV="1">
            <a:off x="476047" y="1807673"/>
            <a:ext cx="94413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22ECE12A-0320-D171-EC88-E13E715936B9}"/>
              </a:ext>
            </a:extLst>
          </p:cNvPr>
          <p:cNvGraphicFramePr>
            <a:graphicFrameLocks noGrp="1"/>
          </p:cNvGraphicFramePr>
          <p:nvPr>
            <p:extLst>
              <p:ext uri="{D42A27DB-BD31-4B8C-83A1-F6EECF244321}">
                <p14:modId xmlns:p14="http://schemas.microsoft.com/office/powerpoint/2010/main" val="1983171441"/>
              </p:ext>
            </p:extLst>
          </p:nvPr>
        </p:nvGraphicFramePr>
        <p:xfrm>
          <a:off x="899648" y="1330712"/>
          <a:ext cx="7344704" cy="3278457"/>
        </p:xfrm>
        <a:graphic>
          <a:graphicData uri="http://schemas.openxmlformats.org/drawingml/2006/table">
            <a:tbl>
              <a:tblPr firstRow="1" bandRow="1">
                <a:tableStyleId>{8EC20E35-A176-4012-BC5E-935CFFF8708E}</a:tableStyleId>
              </a:tblPr>
              <a:tblGrid>
                <a:gridCol w="3672352">
                  <a:extLst>
                    <a:ext uri="{9D8B030D-6E8A-4147-A177-3AD203B41FA5}">
                      <a16:colId xmlns:a16="http://schemas.microsoft.com/office/drawing/2014/main" val="3580462171"/>
                    </a:ext>
                  </a:extLst>
                </a:gridCol>
                <a:gridCol w="3672352">
                  <a:extLst>
                    <a:ext uri="{9D8B030D-6E8A-4147-A177-3AD203B41FA5}">
                      <a16:colId xmlns:a16="http://schemas.microsoft.com/office/drawing/2014/main" val="262340214"/>
                    </a:ext>
                  </a:extLst>
                </a:gridCol>
              </a:tblGrid>
              <a:tr h="364273">
                <a:tc>
                  <a:txBody>
                    <a:bodyPr/>
                    <a:lstStyle/>
                    <a:p>
                      <a:r>
                        <a:rPr lang="en-GB" dirty="0"/>
                        <a:t>Field </a:t>
                      </a:r>
                    </a:p>
                  </a:txBody>
                  <a:tcPr/>
                </a:tc>
                <a:tc>
                  <a:txBody>
                    <a:bodyPr/>
                    <a:lstStyle/>
                    <a:p>
                      <a:r>
                        <a:rPr lang="en-GB" dirty="0"/>
                        <a:t>Type</a:t>
                      </a:r>
                    </a:p>
                  </a:txBody>
                  <a:tcPr/>
                </a:tc>
                <a:extLst>
                  <a:ext uri="{0D108BD9-81ED-4DB2-BD59-A6C34878D82A}">
                    <a16:rowId xmlns:a16="http://schemas.microsoft.com/office/drawing/2014/main" val="1726561615"/>
                  </a:ext>
                </a:extLst>
              </a:tr>
              <a:tr h="364273">
                <a:tc>
                  <a:txBody>
                    <a:bodyPr/>
                    <a:lstStyle/>
                    <a:p>
                      <a:r>
                        <a:rPr lang="en-GB" dirty="0"/>
                        <a:t>userID (PK)</a:t>
                      </a:r>
                    </a:p>
                  </a:txBody>
                  <a:tcPr/>
                </a:tc>
                <a:tc>
                  <a:txBody>
                    <a:bodyPr/>
                    <a:lstStyle/>
                    <a:p>
                      <a:r>
                        <a:rPr lang="en-GB" dirty="0"/>
                        <a:t>Char(36)</a:t>
                      </a:r>
                    </a:p>
                  </a:txBody>
                  <a:tcPr/>
                </a:tc>
                <a:extLst>
                  <a:ext uri="{0D108BD9-81ED-4DB2-BD59-A6C34878D82A}">
                    <a16:rowId xmlns:a16="http://schemas.microsoft.com/office/drawing/2014/main" val="4036844679"/>
                  </a:ext>
                </a:extLst>
              </a:tr>
              <a:tr h="364273">
                <a:tc>
                  <a:txBody>
                    <a:bodyPr/>
                    <a:lstStyle/>
                    <a:p>
                      <a:r>
                        <a:rPr lang="en-GB" dirty="0"/>
                        <a:t>first_name</a:t>
                      </a:r>
                    </a:p>
                  </a:txBody>
                  <a:tcPr/>
                </a:tc>
                <a:tc>
                  <a:txBody>
                    <a:bodyPr/>
                    <a:lstStyle/>
                    <a:p>
                      <a:r>
                        <a:rPr lang="en-GB" dirty="0"/>
                        <a:t>Char(128)</a:t>
                      </a:r>
                    </a:p>
                  </a:txBody>
                  <a:tcPr/>
                </a:tc>
                <a:extLst>
                  <a:ext uri="{0D108BD9-81ED-4DB2-BD59-A6C34878D82A}">
                    <a16:rowId xmlns:a16="http://schemas.microsoft.com/office/drawing/2014/main" val="1882298953"/>
                  </a:ext>
                </a:extLst>
              </a:tr>
              <a:tr h="364273">
                <a:tc>
                  <a:txBody>
                    <a:bodyPr/>
                    <a:lstStyle/>
                    <a:p>
                      <a:r>
                        <a:rPr lang="en-GB" dirty="0"/>
                        <a:t>last_name</a:t>
                      </a:r>
                    </a:p>
                  </a:txBody>
                  <a:tcPr/>
                </a:tc>
                <a:tc>
                  <a:txBody>
                    <a:bodyPr/>
                    <a:lstStyle/>
                    <a:p>
                      <a:r>
                        <a:rPr lang="en-GB" dirty="0"/>
                        <a:t>Char(128)</a:t>
                      </a:r>
                    </a:p>
                  </a:txBody>
                  <a:tcPr/>
                </a:tc>
                <a:extLst>
                  <a:ext uri="{0D108BD9-81ED-4DB2-BD59-A6C34878D82A}">
                    <a16:rowId xmlns:a16="http://schemas.microsoft.com/office/drawing/2014/main" val="3748898845"/>
                  </a:ext>
                </a:extLst>
              </a:tr>
              <a:tr h="364273">
                <a:tc>
                  <a:txBody>
                    <a:bodyPr/>
                    <a:lstStyle/>
                    <a:p>
                      <a:r>
                        <a:rPr lang="en-GB" dirty="0"/>
                        <a:t>email</a:t>
                      </a:r>
                    </a:p>
                  </a:txBody>
                  <a:tcPr/>
                </a:tc>
                <a:tc>
                  <a:txBody>
                    <a:bodyPr/>
                    <a:lstStyle/>
                    <a:p>
                      <a:r>
                        <a:rPr lang="en-GB" dirty="0"/>
                        <a:t>Char(256), unique</a:t>
                      </a:r>
                    </a:p>
                  </a:txBody>
                  <a:tcPr/>
                </a:tc>
                <a:extLst>
                  <a:ext uri="{0D108BD9-81ED-4DB2-BD59-A6C34878D82A}">
                    <a16:rowId xmlns:a16="http://schemas.microsoft.com/office/drawing/2014/main" val="2613311149"/>
                  </a:ext>
                </a:extLst>
              </a:tr>
              <a:tr h="364273">
                <a:tc>
                  <a:txBody>
                    <a:bodyPr/>
                    <a:lstStyle/>
                    <a:p>
                      <a:r>
                        <a:rPr lang="en-GB" dirty="0"/>
                        <a:t>student_id</a:t>
                      </a:r>
                    </a:p>
                  </a:txBody>
                  <a:tcPr/>
                </a:tc>
                <a:tc>
                  <a:txBody>
                    <a:bodyPr/>
                    <a:lstStyle/>
                    <a:p>
                      <a:r>
                        <a:rPr lang="en-GB" dirty="0"/>
                        <a:t>Char(32), unique</a:t>
                      </a:r>
                    </a:p>
                  </a:txBody>
                  <a:tcPr/>
                </a:tc>
                <a:extLst>
                  <a:ext uri="{0D108BD9-81ED-4DB2-BD59-A6C34878D82A}">
                    <a16:rowId xmlns:a16="http://schemas.microsoft.com/office/drawing/2014/main" val="98044296"/>
                  </a:ext>
                </a:extLst>
              </a:tr>
              <a:tr h="364273">
                <a:tc>
                  <a:txBody>
                    <a:bodyPr/>
                    <a:lstStyle/>
                    <a:p>
                      <a:r>
                        <a:rPr lang="en-GB" dirty="0"/>
                        <a:t>password_hash</a:t>
                      </a:r>
                    </a:p>
                  </a:txBody>
                  <a:tcPr/>
                </a:tc>
                <a:tc>
                  <a:txBody>
                    <a:bodyPr/>
                    <a:lstStyle/>
                    <a:p>
                      <a:r>
                        <a:rPr lang="en-GB" dirty="0"/>
                        <a:t>Char(225)</a:t>
                      </a:r>
                    </a:p>
                  </a:txBody>
                  <a:tcPr/>
                </a:tc>
                <a:extLst>
                  <a:ext uri="{0D108BD9-81ED-4DB2-BD59-A6C34878D82A}">
                    <a16:rowId xmlns:a16="http://schemas.microsoft.com/office/drawing/2014/main" val="1164249695"/>
                  </a:ext>
                </a:extLst>
              </a:tr>
              <a:tr h="364273">
                <a:tc>
                  <a:txBody>
                    <a:bodyPr/>
                    <a:lstStyle/>
                    <a:p>
                      <a:r>
                        <a:rPr lang="en-GB" dirty="0"/>
                        <a:t>profile_photo_url</a:t>
                      </a:r>
                    </a:p>
                  </a:txBody>
                  <a:tcPr/>
                </a:tc>
                <a:tc>
                  <a:txBody>
                    <a:bodyPr/>
                    <a:lstStyle/>
                    <a:p>
                      <a:r>
                        <a:rPr lang="en-GB" dirty="0"/>
                        <a:t>Char(512)</a:t>
                      </a:r>
                    </a:p>
                  </a:txBody>
                  <a:tcPr/>
                </a:tc>
                <a:extLst>
                  <a:ext uri="{0D108BD9-81ED-4DB2-BD59-A6C34878D82A}">
                    <a16:rowId xmlns:a16="http://schemas.microsoft.com/office/drawing/2014/main" val="3475679353"/>
                  </a:ext>
                </a:extLst>
              </a:tr>
              <a:tr h="364273">
                <a:tc>
                  <a:txBody>
                    <a:bodyPr/>
                    <a:lstStyle/>
                    <a:p>
                      <a:r>
                        <a:rPr lang="en-GB" dirty="0"/>
                        <a:t>account_balance</a:t>
                      </a:r>
                    </a:p>
                  </a:txBody>
                  <a:tcPr/>
                </a:tc>
                <a:tc>
                  <a:txBody>
                    <a:bodyPr/>
                    <a:lstStyle/>
                    <a:p>
                      <a:r>
                        <a:rPr lang="en-GB" dirty="0"/>
                        <a:t>Decimal(12,2)</a:t>
                      </a:r>
                    </a:p>
                  </a:txBody>
                  <a:tcPr/>
                </a:tc>
                <a:extLst>
                  <a:ext uri="{0D108BD9-81ED-4DB2-BD59-A6C34878D82A}">
                    <a16:rowId xmlns:a16="http://schemas.microsoft.com/office/drawing/2014/main" val="245577109"/>
                  </a:ext>
                </a:extLst>
              </a:tr>
            </a:tbl>
          </a:graphicData>
        </a:graphic>
      </p:graphicFrame>
      <p:pic>
        <p:nvPicPr>
          <p:cNvPr id="5" name="Picture 4">
            <a:extLst>
              <a:ext uri="{FF2B5EF4-FFF2-40B4-BE49-F238E27FC236}">
                <a16:creationId xmlns:a16="http://schemas.microsoft.com/office/drawing/2014/main" id="{BE4FAE7F-CFB5-892A-92C4-7C000F942DD3}"/>
              </a:ext>
            </a:extLst>
          </p:cNvPr>
          <p:cNvPicPr>
            <a:picLocks noChangeAspect="1"/>
          </p:cNvPicPr>
          <p:nvPr/>
        </p:nvPicPr>
        <p:blipFill>
          <a:blip r:embed="rId3"/>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2899541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1">
          <a:extLst>
            <a:ext uri="{FF2B5EF4-FFF2-40B4-BE49-F238E27FC236}">
              <a16:creationId xmlns:a16="http://schemas.microsoft.com/office/drawing/2014/main" id="{EA20BC2C-89AD-86D4-0010-9BBB73F7F913}"/>
            </a:ext>
          </a:extLst>
        </p:cNvPr>
        <p:cNvGrpSpPr/>
        <p:nvPr/>
      </p:nvGrpSpPr>
      <p:grpSpPr>
        <a:xfrm>
          <a:off x="0" y="0"/>
          <a:ext cx="0" cy="0"/>
          <a:chOff x="0" y="0"/>
          <a:chExt cx="0" cy="0"/>
        </a:xfrm>
      </p:grpSpPr>
      <p:sp>
        <p:nvSpPr>
          <p:cNvPr id="322" name="Google Shape;322;p43">
            <a:extLst>
              <a:ext uri="{FF2B5EF4-FFF2-40B4-BE49-F238E27FC236}">
                <a16:creationId xmlns:a16="http://schemas.microsoft.com/office/drawing/2014/main" id="{1AFC5B61-6DBD-8067-D127-3D724F55FE1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Item entity</a:t>
            </a:r>
            <a:endParaRPr dirty="0"/>
          </a:p>
        </p:txBody>
      </p:sp>
      <p:sp>
        <p:nvSpPr>
          <p:cNvPr id="3" name="Rectangle 1">
            <a:extLst>
              <a:ext uri="{FF2B5EF4-FFF2-40B4-BE49-F238E27FC236}">
                <a16:creationId xmlns:a16="http://schemas.microsoft.com/office/drawing/2014/main" id="{4DF5C795-D4FD-CBDB-E8DF-42AC8F814CDF}"/>
              </a:ext>
            </a:extLst>
          </p:cNvPr>
          <p:cNvSpPr>
            <a:spLocks noChangeArrowheads="1"/>
          </p:cNvSpPr>
          <p:nvPr/>
        </p:nvSpPr>
        <p:spPr bwMode="auto">
          <a:xfrm flipV="1">
            <a:off x="476047" y="1807673"/>
            <a:ext cx="94413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529E8D64-1975-1190-3DE0-FE98E4AAF9E2}"/>
              </a:ext>
            </a:extLst>
          </p:cNvPr>
          <p:cNvGraphicFramePr>
            <a:graphicFrameLocks noGrp="1"/>
          </p:cNvGraphicFramePr>
          <p:nvPr>
            <p:extLst>
              <p:ext uri="{D42A27DB-BD31-4B8C-83A1-F6EECF244321}">
                <p14:modId xmlns:p14="http://schemas.microsoft.com/office/powerpoint/2010/main" val="2675877105"/>
              </p:ext>
            </p:extLst>
          </p:nvPr>
        </p:nvGraphicFramePr>
        <p:xfrm>
          <a:off x="899648" y="1434790"/>
          <a:ext cx="7344704" cy="2914184"/>
        </p:xfrm>
        <a:graphic>
          <a:graphicData uri="http://schemas.openxmlformats.org/drawingml/2006/table">
            <a:tbl>
              <a:tblPr firstRow="1" bandRow="1">
                <a:tableStyleId>{8EC20E35-A176-4012-BC5E-935CFFF8708E}</a:tableStyleId>
              </a:tblPr>
              <a:tblGrid>
                <a:gridCol w="3672352">
                  <a:extLst>
                    <a:ext uri="{9D8B030D-6E8A-4147-A177-3AD203B41FA5}">
                      <a16:colId xmlns:a16="http://schemas.microsoft.com/office/drawing/2014/main" val="3580462171"/>
                    </a:ext>
                  </a:extLst>
                </a:gridCol>
                <a:gridCol w="3672352">
                  <a:extLst>
                    <a:ext uri="{9D8B030D-6E8A-4147-A177-3AD203B41FA5}">
                      <a16:colId xmlns:a16="http://schemas.microsoft.com/office/drawing/2014/main" val="262340214"/>
                    </a:ext>
                  </a:extLst>
                </a:gridCol>
              </a:tblGrid>
              <a:tr h="364273">
                <a:tc>
                  <a:txBody>
                    <a:bodyPr/>
                    <a:lstStyle/>
                    <a:p>
                      <a:r>
                        <a:rPr lang="en-GB" dirty="0"/>
                        <a:t>Field </a:t>
                      </a:r>
                    </a:p>
                  </a:txBody>
                  <a:tcPr/>
                </a:tc>
                <a:tc>
                  <a:txBody>
                    <a:bodyPr/>
                    <a:lstStyle/>
                    <a:p>
                      <a:r>
                        <a:rPr lang="en-GB" dirty="0"/>
                        <a:t>Type</a:t>
                      </a:r>
                    </a:p>
                  </a:txBody>
                  <a:tcPr/>
                </a:tc>
                <a:extLst>
                  <a:ext uri="{0D108BD9-81ED-4DB2-BD59-A6C34878D82A}">
                    <a16:rowId xmlns:a16="http://schemas.microsoft.com/office/drawing/2014/main" val="1726561615"/>
                  </a:ext>
                </a:extLst>
              </a:tr>
              <a:tr h="364273">
                <a:tc>
                  <a:txBody>
                    <a:bodyPr/>
                    <a:lstStyle/>
                    <a:p>
                      <a:r>
                        <a:rPr lang="en-GB" dirty="0"/>
                        <a:t>itemID (PK)</a:t>
                      </a:r>
                    </a:p>
                  </a:txBody>
                  <a:tcPr/>
                </a:tc>
                <a:tc>
                  <a:txBody>
                    <a:bodyPr/>
                    <a:lstStyle/>
                    <a:p>
                      <a:r>
                        <a:rPr lang="en-GB" dirty="0"/>
                        <a:t>Char(36)</a:t>
                      </a:r>
                    </a:p>
                  </a:txBody>
                  <a:tcPr/>
                </a:tc>
                <a:extLst>
                  <a:ext uri="{0D108BD9-81ED-4DB2-BD59-A6C34878D82A}">
                    <a16:rowId xmlns:a16="http://schemas.microsoft.com/office/drawing/2014/main" val="4036844679"/>
                  </a:ext>
                </a:extLst>
              </a:tr>
              <a:tr h="364273">
                <a:tc>
                  <a:txBody>
                    <a:bodyPr/>
                    <a:lstStyle/>
                    <a:p>
                      <a:r>
                        <a:rPr lang="en-GB" dirty="0"/>
                        <a:t>title</a:t>
                      </a:r>
                    </a:p>
                  </a:txBody>
                  <a:tcPr/>
                </a:tc>
                <a:tc>
                  <a:txBody>
                    <a:bodyPr/>
                    <a:lstStyle/>
                    <a:p>
                      <a:r>
                        <a:rPr lang="en-GB" dirty="0"/>
                        <a:t>Char(256)</a:t>
                      </a:r>
                    </a:p>
                  </a:txBody>
                  <a:tcPr/>
                </a:tc>
                <a:extLst>
                  <a:ext uri="{0D108BD9-81ED-4DB2-BD59-A6C34878D82A}">
                    <a16:rowId xmlns:a16="http://schemas.microsoft.com/office/drawing/2014/main" val="1882298953"/>
                  </a:ext>
                </a:extLst>
              </a:tr>
              <a:tr h="364273">
                <a:tc>
                  <a:txBody>
                    <a:bodyPr/>
                    <a:lstStyle/>
                    <a:p>
                      <a:r>
                        <a:rPr lang="en-GB" dirty="0"/>
                        <a:t>description</a:t>
                      </a:r>
                    </a:p>
                  </a:txBody>
                  <a:tcPr/>
                </a:tc>
                <a:tc>
                  <a:txBody>
                    <a:bodyPr/>
                    <a:lstStyle/>
                    <a:p>
                      <a:r>
                        <a:rPr lang="en-GB" dirty="0"/>
                        <a:t>Char(2000)</a:t>
                      </a:r>
                    </a:p>
                  </a:txBody>
                  <a:tcPr/>
                </a:tc>
                <a:extLst>
                  <a:ext uri="{0D108BD9-81ED-4DB2-BD59-A6C34878D82A}">
                    <a16:rowId xmlns:a16="http://schemas.microsoft.com/office/drawing/2014/main" val="3748898845"/>
                  </a:ext>
                </a:extLst>
              </a:tr>
              <a:tr h="364273">
                <a:tc>
                  <a:txBody>
                    <a:bodyPr/>
                    <a:lstStyle/>
                    <a:p>
                      <a:r>
                        <a:rPr lang="en-GB" dirty="0"/>
                        <a:t>item_type</a:t>
                      </a:r>
                    </a:p>
                  </a:txBody>
                  <a:tcPr/>
                </a:tc>
                <a:tc>
                  <a:txBody>
                    <a:bodyPr/>
                    <a:lstStyle/>
                    <a:p>
                      <a:r>
                        <a:rPr lang="en-GB" dirty="0"/>
                        <a:t>Enum(Restricted)</a:t>
                      </a:r>
                    </a:p>
                  </a:txBody>
                  <a:tcPr/>
                </a:tc>
                <a:extLst>
                  <a:ext uri="{0D108BD9-81ED-4DB2-BD59-A6C34878D82A}">
                    <a16:rowId xmlns:a16="http://schemas.microsoft.com/office/drawing/2014/main" val="2613311149"/>
                  </a:ext>
                </a:extLst>
              </a:tr>
              <a:tr h="364273">
                <a:tc>
                  <a:txBody>
                    <a:bodyPr/>
                    <a:lstStyle/>
                    <a:p>
                      <a:r>
                        <a:rPr lang="en-GB" dirty="0"/>
                        <a:t>price</a:t>
                      </a:r>
                    </a:p>
                  </a:txBody>
                  <a:tcPr/>
                </a:tc>
                <a:tc>
                  <a:txBody>
                    <a:bodyPr/>
                    <a:lstStyle/>
                    <a:p>
                      <a:r>
                        <a:rPr lang="en-GB" dirty="0"/>
                        <a:t>Decimal(12,2)</a:t>
                      </a:r>
                    </a:p>
                  </a:txBody>
                  <a:tcPr/>
                </a:tc>
                <a:extLst>
                  <a:ext uri="{0D108BD9-81ED-4DB2-BD59-A6C34878D82A}">
                    <a16:rowId xmlns:a16="http://schemas.microsoft.com/office/drawing/2014/main" val="98044296"/>
                  </a:ext>
                </a:extLst>
              </a:tr>
              <a:tr h="364273">
                <a:tc>
                  <a:txBody>
                    <a:bodyPr/>
                    <a:lstStyle/>
                    <a:p>
                      <a:r>
                        <a:rPr lang="en-GB" dirty="0"/>
                        <a:t>status</a:t>
                      </a:r>
                    </a:p>
                  </a:txBody>
                  <a:tcPr/>
                </a:tc>
                <a:tc>
                  <a:txBody>
                    <a:bodyPr/>
                    <a:lstStyle/>
                    <a:p>
                      <a:r>
                        <a:rPr lang="en-GB" dirty="0"/>
                        <a:t>Enum(Available, Sold)</a:t>
                      </a:r>
                    </a:p>
                  </a:txBody>
                  <a:tcPr/>
                </a:tc>
                <a:extLst>
                  <a:ext uri="{0D108BD9-81ED-4DB2-BD59-A6C34878D82A}">
                    <a16:rowId xmlns:a16="http://schemas.microsoft.com/office/drawing/2014/main" val="1164249695"/>
                  </a:ext>
                </a:extLst>
              </a:tr>
              <a:tr h="364273">
                <a:tc>
                  <a:txBody>
                    <a:bodyPr/>
                    <a:lstStyle/>
                    <a:p>
                      <a:r>
                        <a:rPr lang="en-GB" dirty="0"/>
                        <a:t>listed_at</a:t>
                      </a:r>
                    </a:p>
                  </a:txBody>
                  <a:tcPr/>
                </a:tc>
                <a:tc>
                  <a:txBody>
                    <a:bodyPr/>
                    <a:lstStyle/>
                    <a:p>
                      <a:r>
                        <a:rPr lang="en-GB" dirty="0"/>
                        <a:t>DateTime</a:t>
                      </a:r>
                    </a:p>
                  </a:txBody>
                  <a:tcPr/>
                </a:tc>
                <a:extLst>
                  <a:ext uri="{0D108BD9-81ED-4DB2-BD59-A6C34878D82A}">
                    <a16:rowId xmlns:a16="http://schemas.microsoft.com/office/drawing/2014/main" val="3475679353"/>
                  </a:ext>
                </a:extLst>
              </a:tr>
            </a:tbl>
          </a:graphicData>
        </a:graphic>
      </p:graphicFrame>
      <p:pic>
        <p:nvPicPr>
          <p:cNvPr id="2" name="Picture 1">
            <a:extLst>
              <a:ext uri="{FF2B5EF4-FFF2-40B4-BE49-F238E27FC236}">
                <a16:creationId xmlns:a16="http://schemas.microsoft.com/office/drawing/2014/main" id="{F574EFD2-FE92-6E11-CB68-4F6CA5BF0561}"/>
              </a:ext>
            </a:extLst>
          </p:cNvPr>
          <p:cNvPicPr>
            <a:picLocks noChangeAspect="1"/>
          </p:cNvPicPr>
          <p:nvPr/>
        </p:nvPicPr>
        <p:blipFill>
          <a:blip r:embed="rId3"/>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2320310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1">
          <a:extLst>
            <a:ext uri="{FF2B5EF4-FFF2-40B4-BE49-F238E27FC236}">
              <a16:creationId xmlns:a16="http://schemas.microsoft.com/office/drawing/2014/main" id="{60E818E2-7F63-8628-6C8F-4D35B88B6229}"/>
            </a:ext>
          </a:extLst>
        </p:cNvPr>
        <p:cNvGrpSpPr/>
        <p:nvPr/>
      </p:nvGrpSpPr>
      <p:grpSpPr>
        <a:xfrm>
          <a:off x="0" y="0"/>
          <a:ext cx="0" cy="0"/>
          <a:chOff x="0" y="0"/>
          <a:chExt cx="0" cy="0"/>
        </a:xfrm>
      </p:grpSpPr>
      <p:sp>
        <p:nvSpPr>
          <p:cNvPr id="322" name="Google Shape;322;p43">
            <a:extLst>
              <a:ext uri="{FF2B5EF4-FFF2-40B4-BE49-F238E27FC236}">
                <a16:creationId xmlns:a16="http://schemas.microsoft.com/office/drawing/2014/main" id="{459673CE-8190-70A2-146E-46718849FE3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Transaction entity</a:t>
            </a:r>
            <a:endParaRPr dirty="0"/>
          </a:p>
        </p:txBody>
      </p:sp>
      <p:sp>
        <p:nvSpPr>
          <p:cNvPr id="3" name="Rectangle 1">
            <a:extLst>
              <a:ext uri="{FF2B5EF4-FFF2-40B4-BE49-F238E27FC236}">
                <a16:creationId xmlns:a16="http://schemas.microsoft.com/office/drawing/2014/main" id="{3D47DB6B-A255-8A84-61DB-82F221D0DF61}"/>
              </a:ext>
            </a:extLst>
          </p:cNvPr>
          <p:cNvSpPr>
            <a:spLocks noChangeArrowheads="1"/>
          </p:cNvSpPr>
          <p:nvPr/>
        </p:nvSpPr>
        <p:spPr bwMode="auto">
          <a:xfrm flipV="1">
            <a:off x="476047" y="1807673"/>
            <a:ext cx="94413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E9673EB4-6ECA-FFDA-2B37-566A18B19299}"/>
              </a:ext>
            </a:extLst>
          </p:cNvPr>
          <p:cNvGraphicFramePr>
            <a:graphicFrameLocks noGrp="1"/>
          </p:cNvGraphicFramePr>
          <p:nvPr>
            <p:extLst>
              <p:ext uri="{D42A27DB-BD31-4B8C-83A1-F6EECF244321}">
                <p14:modId xmlns:p14="http://schemas.microsoft.com/office/powerpoint/2010/main" val="2196239513"/>
              </p:ext>
            </p:extLst>
          </p:nvPr>
        </p:nvGraphicFramePr>
        <p:xfrm>
          <a:off x="899648" y="1576039"/>
          <a:ext cx="7344704" cy="2782451"/>
        </p:xfrm>
        <a:graphic>
          <a:graphicData uri="http://schemas.openxmlformats.org/drawingml/2006/table">
            <a:tbl>
              <a:tblPr firstRow="1" bandRow="1">
                <a:tableStyleId>{8EC20E35-A176-4012-BC5E-935CFFF8708E}</a:tableStyleId>
              </a:tblPr>
              <a:tblGrid>
                <a:gridCol w="3672352">
                  <a:extLst>
                    <a:ext uri="{9D8B030D-6E8A-4147-A177-3AD203B41FA5}">
                      <a16:colId xmlns:a16="http://schemas.microsoft.com/office/drawing/2014/main" val="3580462171"/>
                    </a:ext>
                  </a:extLst>
                </a:gridCol>
                <a:gridCol w="3672352">
                  <a:extLst>
                    <a:ext uri="{9D8B030D-6E8A-4147-A177-3AD203B41FA5}">
                      <a16:colId xmlns:a16="http://schemas.microsoft.com/office/drawing/2014/main" val="262340214"/>
                    </a:ext>
                  </a:extLst>
                </a:gridCol>
              </a:tblGrid>
              <a:tr h="397493">
                <a:tc>
                  <a:txBody>
                    <a:bodyPr/>
                    <a:lstStyle/>
                    <a:p>
                      <a:r>
                        <a:rPr lang="en-GB" dirty="0"/>
                        <a:t>Field </a:t>
                      </a:r>
                    </a:p>
                  </a:txBody>
                  <a:tcPr/>
                </a:tc>
                <a:tc>
                  <a:txBody>
                    <a:bodyPr/>
                    <a:lstStyle/>
                    <a:p>
                      <a:r>
                        <a:rPr lang="en-GB" dirty="0"/>
                        <a:t>Type</a:t>
                      </a:r>
                    </a:p>
                  </a:txBody>
                  <a:tcPr/>
                </a:tc>
                <a:extLst>
                  <a:ext uri="{0D108BD9-81ED-4DB2-BD59-A6C34878D82A}">
                    <a16:rowId xmlns:a16="http://schemas.microsoft.com/office/drawing/2014/main" val="1726561615"/>
                  </a:ext>
                </a:extLst>
              </a:tr>
              <a:tr h="397493">
                <a:tc>
                  <a:txBody>
                    <a:bodyPr/>
                    <a:lstStyle/>
                    <a:p>
                      <a:r>
                        <a:rPr lang="en-GB" dirty="0"/>
                        <a:t>transactionID (PK)</a:t>
                      </a:r>
                    </a:p>
                  </a:txBody>
                  <a:tcPr/>
                </a:tc>
                <a:tc>
                  <a:txBody>
                    <a:bodyPr/>
                    <a:lstStyle/>
                    <a:p>
                      <a:r>
                        <a:rPr lang="en-GB" dirty="0"/>
                        <a:t>Char(36)</a:t>
                      </a:r>
                    </a:p>
                  </a:txBody>
                  <a:tcPr/>
                </a:tc>
                <a:extLst>
                  <a:ext uri="{0D108BD9-81ED-4DB2-BD59-A6C34878D82A}">
                    <a16:rowId xmlns:a16="http://schemas.microsoft.com/office/drawing/2014/main" val="4036844679"/>
                  </a:ext>
                </a:extLst>
              </a:tr>
              <a:tr h="397493">
                <a:tc>
                  <a:txBody>
                    <a:bodyPr/>
                    <a:lstStyle/>
                    <a:p>
                      <a:r>
                        <a:rPr lang="en-GB" dirty="0"/>
                        <a:t>type</a:t>
                      </a:r>
                    </a:p>
                  </a:txBody>
                  <a:tcPr/>
                </a:tc>
                <a:tc>
                  <a:txBody>
                    <a:bodyPr/>
                    <a:lstStyle/>
                    <a:p>
                      <a:r>
                        <a:rPr lang="en-GB" dirty="0"/>
                        <a:t>Enum(Purchase, TopUp)</a:t>
                      </a:r>
                    </a:p>
                  </a:txBody>
                  <a:tcPr/>
                </a:tc>
                <a:extLst>
                  <a:ext uri="{0D108BD9-81ED-4DB2-BD59-A6C34878D82A}">
                    <a16:rowId xmlns:a16="http://schemas.microsoft.com/office/drawing/2014/main" val="1882298953"/>
                  </a:ext>
                </a:extLst>
              </a:tr>
              <a:tr h="397493">
                <a:tc>
                  <a:txBody>
                    <a:bodyPr/>
                    <a:lstStyle/>
                    <a:p>
                      <a:r>
                        <a:rPr lang="en-GB" dirty="0"/>
                        <a:t>amount</a:t>
                      </a:r>
                    </a:p>
                  </a:txBody>
                  <a:tcPr/>
                </a:tc>
                <a:tc>
                  <a:txBody>
                    <a:bodyPr/>
                    <a:lstStyle/>
                    <a:p>
                      <a:r>
                        <a:rPr lang="en-GB" dirty="0"/>
                        <a:t>Decimal(12,2)</a:t>
                      </a:r>
                    </a:p>
                  </a:txBody>
                  <a:tcPr/>
                </a:tc>
                <a:extLst>
                  <a:ext uri="{0D108BD9-81ED-4DB2-BD59-A6C34878D82A}">
                    <a16:rowId xmlns:a16="http://schemas.microsoft.com/office/drawing/2014/main" val="3748898845"/>
                  </a:ext>
                </a:extLst>
              </a:tr>
              <a:tr h="397493">
                <a:tc>
                  <a:txBody>
                    <a:bodyPr/>
                    <a:lstStyle/>
                    <a:p>
                      <a:r>
                        <a:rPr lang="en-GB" dirty="0"/>
                        <a:t>date</a:t>
                      </a:r>
                    </a:p>
                  </a:txBody>
                  <a:tcPr/>
                </a:tc>
                <a:tc>
                  <a:txBody>
                    <a:bodyPr/>
                    <a:lstStyle/>
                    <a:p>
                      <a:r>
                        <a:rPr lang="en-GB" dirty="0"/>
                        <a:t>DateTime</a:t>
                      </a:r>
                    </a:p>
                  </a:txBody>
                  <a:tcPr/>
                </a:tc>
                <a:extLst>
                  <a:ext uri="{0D108BD9-81ED-4DB2-BD59-A6C34878D82A}">
                    <a16:rowId xmlns:a16="http://schemas.microsoft.com/office/drawing/2014/main" val="2613311149"/>
                  </a:ext>
                </a:extLst>
              </a:tr>
              <a:tr h="397493">
                <a:tc>
                  <a:txBody>
                    <a:bodyPr/>
                    <a:lstStyle/>
                    <a:p>
                      <a:r>
                        <a:rPr lang="en-GB" dirty="0"/>
                        <a:t>buyerID (FK </a:t>
                      </a:r>
                      <a:r>
                        <a:rPr lang="en-GB" dirty="0">
                          <a:sym typeface="Wingdings" panose="05000000000000000000" pitchFamily="2" charset="2"/>
                        </a:rPr>
                        <a:t> User)</a:t>
                      </a:r>
                      <a:endParaRPr lang="en-GB" dirty="0"/>
                    </a:p>
                  </a:txBody>
                  <a:tcPr/>
                </a:tc>
                <a:tc>
                  <a:txBody>
                    <a:bodyPr/>
                    <a:lstStyle/>
                    <a:p>
                      <a:r>
                        <a:rPr lang="en-GB" dirty="0"/>
                        <a:t>Char(36)</a:t>
                      </a:r>
                    </a:p>
                  </a:txBody>
                  <a:tcPr/>
                </a:tc>
                <a:extLst>
                  <a:ext uri="{0D108BD9-81ED-4DB2-BD59-A6C34878D82A}">
                    <a16:rowId xmlns:a16="http://schemas.microsoft.com/office/drawing/2014/main" val="98044296"/>
                  </a:ext>
                </a:extLst>
              </a:tr>
              <a:tr h="397493">
                <a:tc>
                  <a:txBody>
                    <a:bodyPr/>
                    <a:lstStyle/>
                    <a:p>
                      <a:r>
                        <a:rPr lang="en-GB" dirty="0"/>
                        <a:t>itemID (FK </a:t>
                      </a:r>
                      <a:r>
                        <a:rPr lang="en-GB" dirty="0">
                          <a:sym typeface="Wingdings" panose="05000000000000000000" pitchFamily="2" charset="2"/>
                        </a:rPr>
                        <a:t> Item)</a:t>
                      </a:r>
                      <a:endParaRPr lang="en-GB" dirty="0"/>
                    </a:p>
                  </a:txBody>
                  <a:tcPr/>
                </a:tc>
                <a:tc>
                  <a:txBody>
                    <a:bodyPr/>
                    <a:lstStyle/>
                    <a:p>
                      <a:r>
                        <a:rPr lang="en-GB" dirty="0"/>
                        <a:t>Char(36), nullable</a:t>
                      </a:r>
                    </a:p>
                  </a:txBody>
                  <a:tcPr/>
                </a:tc>
                <a:extLst>
                  <a:ext uri="{0D108BD9-81ED-4DB2-BD59-A6C34878D82A}">
                    <a16:rowId xmlns:a16="http://schemas.microsoft.com/office/drawing/2014/main" val="1164249695"/>
                  </a:ext>
                </a:extLst>
              </a:tr>
            </a:tbl>
          </a:graphicData>
        </a:graphic>
      </p:graphicFrame>
      <p:pic>
        <p:nvPicPr>
          <p:cNvPr id="2" name="Picture 1">
            <a:extLst>
              <a:ext uri="{FF2B5EF4-FFF2-40B4-BE49-F238E27FC236}">
                <a16:creationId xmlns:a16="http://schemas.microsoft.com/office/drawing/2014/main" id="{5E444777-3D85-4F0B-7E0E-1D05BA31C86B}"/>
              </a:ext>
            </a:extLst>
          </p:cNvPr>
          <p:cNvPicPr>
            <a:picLocks noChangeAspect="1"/>
          </p:cNvPicPr>
          <p:nvPr/>
        </p:nvPicPr>
        <p:blipFill>
          <a:blip r:embed="rId3"/>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3323591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1">
          <a:extLst>
            <a:ext uri="{FF2B5EF4-FFF2-40B4-BE49-F238E27FC236}">
              <a16:creationId xmlns:a16="http://schemas.microsoft.com/office/drawing/2014/main" id="{77BC3AD3-0BA6-4B85-EC9C-EE55EF4F9240}"/>
            </a:ext>
          </a:extLst>
        </p:cNvPr>
        <p:cNvGrpSpPr/>
        <p:nvPr/>
      </p:nvGrpSpPr>
      <p:grpSpPr>
        <a:xfrm>
          <a:off x="0" y="0"/>
          <a:ext cx="0" cy="0"/>
          <a:chOff x="0" y="0"/>
          <a:chExt cx="0" cy="0"/>
        </a:xfrm>
      </p:grpSpPr>
      <p:sp>
        <p:nvSpPr>
          <p:cNvPr id="322" name="Google Shape;322;p43">
            <a:extLst>
              <a:ext uri="{FF2B5EF4-FFF2-40B4-BE49-F238E27FC236}">
                <a16:creationId xmlns:a16="http://schemas.microsoft.com/office/drawing/2014/main" id="{7677BA95-AEA1-C98E-EA8D-A6FE4AD1F1F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Item photo entity</a:t>
            </a:r>
            <a:endParaRPr dirty="0"/>
          </a:p>
        </p:txBody>
      </p:sp>
      <p:sp>
        <p:nvSpPr>
          <p:cNvPr id="3" name="Rectangle 1">
            <a:extLst>
              <a:ext uri="{FF2B5EF4-FFF2-40B4-BE49-F238E27FC236}">
                <a16:creationId xmlns:a16="http://schemas.microsoft.com/office/drawing/2014/main" id="{BA822F14-9D75-78ED-AE4C-E969B7219D82}"/>
              </a:ext>
            </a:extLst>
          </p:cNvPr>
          <p:cNvSpPr>
            <a:spLocks noChangeArrowheads="1"/>
          </p:cNvSpPr>
          <p:nvPr/>
        </p:nvSpPr>
        <p:spPr bwMode="auto">
          <a:xfrm flipV="1">
            <a:off x="476047" y="1807673"/>
            <a:ext cx="94413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67242AF1-D4E3-0CD1-183C-79569C3E3F7E}"/>
              </a:ext>
            </a:extLst>
          </p:cNvPr>
          <p:cNvGraphicFramePr>
            <a:graphicFrameLocks noGrp="1"/>
          </p:cNvGraphicFramePr>
          <p:nvPr>
            <p:extLst>
              <p:ext uri="{D42A27DB-BD31-4B8C-83A1-F6EECF244321}">
                <p14:modId xmlns:p14="http://schemas.microsoft.com/office/powerpoint/2010/main" val="556381705"/>
              </p:ext>
            </p:extLst>
          </p:nvPr>
        </p:nvGraphicFramePr>
        <p:xfrm>
          <a:off x="899648" y="1693321"/>
          <a:ext cx="7344704" cy="1992352"/>
        </p:xfrm>
        <a:graphic>
          <a:graphicData uri="http://schemas.openxmlformats.org/drawingml/2006/table">
            <a:tbl>
              <a:tblPr firstRow="1" bandRow="1">
                <a:tableStyleId>{8EC20E35-A176-4012-BC5E-935CFFF8708E}</a:tableStyleId>
              </a:tblPr>
              <a:tblGrid>
                <a:gridCol w="3672352">
                  <a:extLst>
                    <a:ext uri="{9D8B030D-6E8A-4147-A177-3AD203B41FA5}">
                      <a16:colId xmlns:a16="http://schemas.microsoft.com/office/drawing/2014/main" val="3580462171"/>
                    </a:ext>
                  </a:extLst>
                </a:gridCol>
                <a:gridCol w="3672352">
                  <a:extLst>
                    <a:ext uri="{9D8B030D-6E8A-4147-A177-3AD203B41FA5}">
                      <a16:colId xmlns:a16="http://schemas.microsoft.com/office/drawing/2014/main" val="262340214"/>
                    </a:ext>
                  </a:extLst>
                </a:gridCol>
              </a:tblGrid>
              <a:tr h="498088">
                <a:tc>
                  <a:txBody>
                    <a:bodyPr/>
                    <a:lstStyle/>
                    <a:p>
                      <a:r>
                        <a:rPr lang="en-GB" dirty="0"/>
                        <a:t>Field </a:t>
                      </a:r>
                    </a:p>
                  </a:txBody>
                  <a:tcPr/>
                </a:tc>
                <a:tc>
                  <a:txBody>
                    <a:bodyPr/>
                    <a:lstStyle/>
                    <a:p>
                      <a:r>
                        <a:rPr lang="en-GB" dirty="0"/>
                        <a:t>Type</a:t>
                      </a:r>
                    </a:p>
                  </a:txBody>
                  <a:tcPr/>
                </a:tc>
                <a:extLst>
                  <a:ext uri="{0D108BD9-81ED-4DB2-BD59-A6C34878D82A}">
                    <a16:rowId xmlns:a16="http://schemas.microsoft.com/office/drawing/2014/main" val="1726561615"/>
                  </a:ext>
                </a:extLst>
              </a:tr>
              <a:tr h="498088">
                <a:tc>
                  <a:txBody>
                    <a:bodyPr/>
                    <a:lstStyle/>
                    <a:p>
                      <a:r>
                        <a:rPr lang="en-GB" dirty="0"/>
                        <a:t>photoID (PK)</a:t>
                      </a:r>
                    </a:p>
                  </a:txBody>
                  <a:tcPr/>
                </a:tc>
                <a:tc>
                  <a:txBody>
                    <a:bodyPr/>
                    <a:lstStyle/>
                    <a:p>
                      <a:r>
                        <a:rPr lang="en-GB" dirty="0"/>
                        <a:t>Char(36)</a:t>
                      </a:r>
                    </a:p>
                  </a:txBody>
                  <a:tcPr/>
                </a:tc>
                <a:extLst>
                  <a:ext uri="{0D108BD9-81ED-4DB2-BD59-A6C34878D82A}">
                    <a16:rowId xmlns:a16="http://schemas.microsoft.com/office/drawing/2014/main" val="4036844679"/>
                  </a:ext>
                </a:extLst>
              </a:tr>
              <a:tr h="498088">
                <a:tc>
                  <a:txBody>
                    <a:bodyPr/>
                    <a:lstStyle/>
                    <a:p>
                      <a:r>
                        <a:rPr lang="en-GB" dirty="0"/>
                        <a:t>url</a:t>
                      </a:r>
                    </a:p>
                  </a:txBody>
                  <a:tcPr/>
                </a:tc>
                <a:tc>
                  <a:txBody>
                    <a:bodyPr/>
                    <a:lstStyle/>
                    <a:p>
                      <a:r>
                        <a:rPr lang="en-GB" dirty="0"/>
                        <a:t>Char(512)</a:t>
                      </a:r>
                    </a:p>
                  </a:txBody>
                  <a:tcPr/>
                </a:tc>
                <a:extLst>
                  <a:ext uri="{0D108BD9-81ED-4DB2-BD59-A6C34878D82A}">
                    <a16:rowId xmlns:a16="http://schemas.microsoft.com/office/drawing/2014/main" val="1882298953"/>
                  </a:ext>
                </a:extLst>
              </a:tr>
              <a:tr h="498088">
                <a:tc>
                  <a:txBody>
                    <a:bodyPr/>
                    <a:lstStyle/>
                    <a:p>
                      <a:r>
                        <a:rPr lang="en-GB" dirty="0"/>
                        <a:t>caption</a:t>
                      </a:r>
                    </a:p>
                  </a:txBody>
                  <a:tcPr/>
                </a:tc>
                <a:tc>
                  <a:txBody>
                    <a:bodyPr/>
                    <a:lstStyle/>
                    <a:p>
                      <a:r>
                        <a:rPr lang="en-GB" dirty="0"/>
                        <a:t>Char(256)</a:t>
                      </a:r>
                    </a:p>
                  </a:txBody>
                  <a:tcPr/>
                </a:tc>
                <a:extLst>
                  <a:ext uri="{0D108BD9-81ED-4DB2-BD59-A6C34878D82A}">
                    <a16:rowId xmlns:a16="http://schemas.microsoft.com/office/drawing/2014/main" val="3748898845"/>
                  </a:ext>
                </a:extLst>
              </a:tr>
            </a:tbl>
          </a:graphicData>
        </a:graphic>
      </p:graphicFrame>
      <p:pic>
        <p:nvPicPr>
          <p:cNvPr id="2" name="Picture 1">
            <a:extLst>
              <a:ext uri="{FF2B5EF4-FFF2-40B4-BE49-F238E27FC236}">
                <a16:creationId xmlns:a16="http://schemas.microsoft.com/office/drawing/2014/main" id="{415710AC-776A-AAE7-5018-C3FC33A9BEC9}"/>
              </a:ext>
            </a:extLst>
          </p:cNvPr>
          <p:cNvPicPr>
            <a:picLocks noChangeAspect="1"/>
          </p:cNvPicPr>
          <p:nvPr/>
        </p:nvPicPr>
        <p:blipFill>
          <a:blip r:embed="rId3"/>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3507328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Wireframes (main)</a:t>
            </a:r>
            <a:endParaRPr dirty="0"/>
          </a:p>
        </p:txBody>
      </p:sp>
      <p:cxnSp>
        <p:nvCxnSpPr>
          <p:cNvPr id="367" name="Google Shape;367;p46"/>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368" name="Google Shape;368;p46"/>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C8E6F52E-4FE8-8F7D-8F80-1605D4CCF8C1}"/>
              </a:ext>
            </a:extLst>
          </p:cNvPr>
          <p:cNvPicPr>
            <a:picLocks noChangeAspect="1"/>
          </p:cNvPicPr>
          <p:nvPr/>
        </p:nvPicPr>
        <p:blipFill>
          <a:blip r:embed="rId3"/>
          <a:srcRect l="760"/>
          <a:stretch>
            <a:fillRect/>
          </a:stretch>
        </p:blipFill>
        <p:spPr>
          <a:xfrm>
            <a:off x="720000" y="1146304"/>
            <a:ext cx="7331179" cy="3532024"/>
          </a:xfrm>
          <a:prstGeom prst="rect">
            <a:avLst/>
          </a:prstGeom>
        </p:spPr>
      </p:pic>
      <p:pic>
        <p:nvPicPr>
          <p:cNvPr id="4" name="Picture 3">
            <a:extLst>
              <a:ext uri="{FF2B5EF4-FFF2-40B4-BE49-F238E27FC236}">
                <a16:creationId xmlns:a16="http://schemas.microsoft.com/office/drawing/2014/main" id="{C3C5FDCB-A843-FE93-CE12-42617B0D7781}"/>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
          <a:extLst>
            <a:ext uri="{FF2B5EF4-FFF2-40B4-BE49-F238E27FC236}">
              <a16:creationId xmlns:a16="http://schemas.microsoft.com/office/drawing/2014/main" id="{DF601943-27EA-3A60-682A-623282877191}"/>
            </a:ext>
          </a:extLst>
        </p:cNvPr>
        <p:cNvGrpSpPr/>
        <p:nvPr/>
      </p:nvGrpSpPr>
      <p:grpSpPr>
        <a:xfrm>
          <a:off x="0" y="0"/>
          <a:ext cx="0" cy="0"/>
          <a:chOff x="0" y="0"/>
          <a:chExt cx="0" cy="0"/>
        </a:xfrm>
      </p:grpSpPr>
      <p:sp>
        <p:nvSpPr>
          <p:cNvPr id="365" name="Google Shape;365;p46">
            <a:extLst>
              <a:ext uri="{FF2B5EF4-FFF2-40B4-BE49-F238E27FC236}">
                <a16:creationId xmlns:a16="http://schemas.microsoft.com/office/drawing/2014/main" id="{13ED7322-2D37-C7B7-BF9B-FD51AFE673D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Wireframes (login)</a:t>
            </a:r>
            <a:endParaRPr dirty="0"/>
          </a:p>
        </p:txBody>
      </p:sp>
      <p:cxnSp>
        <p:nvCxnSpPr>
          <p:cNvPr id="367" name="Google Shape;367;p46">
            <a:extLst>
              <a:ext uri="{FF2B5EF4-FFF2-40B4-BE49-F238E27FC236}">
                <a16:creationId xmlns:a16="http://schemas.microsoft.com/office/drawing/2014/main" id="{095F67C2-FA14-B7B0-ADEB-0395D7264320}"/>
              </a:ext>
            </a:extLst>
          </p:cNvPr>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368" name="Google Shape;368;p46">
            <a:extLst>
              <a:ext uri="{FF2B5EF4-FFF2-40B4-BE49-F238E27FC236}">
                <a16:creationId xmlns:a16="http://schemas.microsoft.com/office/drawing/2014/main" id="{C33CA55B-BC21-F008-F8EA-DA1621414147}"/>
              </a:ext>
            </a:extLst>
          </p:cNvPr>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0E2B85F5-3A52-3BE0-8100-210FE04AE05C}"/>
              </a:ext>
            </a:extLst>
          </p:cNvPr>
          <p:cNvPicPr>
            <a:picLocks noChangeAspect="1"/>
          </p:cNvPicPr>
          <p:nvPr/>
        </p:nvPicPr>
        <p:blipFill>
          <a:blip r:embed="rId3"/>
          <a:srcRect l="652" r="652" b="2105"/>
          <a:stretch>
            <a:fillRect/>
          </a:stretch>
        </p:blipFill>
        <p:spPr>
          <a:xfrm>
            <a:off x="720000" y="1146304"/>
            <a:ext cx="7331179" cy="3457684"/>
          </a:xfrm>
          <a:prstGeom prst="rect">
            <a:avLst/>
          </a:prstGeom>
        </p:spPr>
      </p:pic>
      <p:pic>
        <p:nvPicPr>
          <p:cNvPr id="2" name="Picture 1">
            <a:extLst>
              <a:ext uri="{FF2B5EF4-FFF2-40B4-BE49-F238E27FC236}">
                <a16:creationId xmlns:a16="http://schemas.microsoft.com/office/drawing/2014/main" id="{B67576BA-1455-037A-CBDD-497174339BCA}"/>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1947087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4">
          <a:extLst>
            <a:ext uri="{FF2B5EF4-FFF2-40B4-BE49-F238E27FC236}">
              <a16:creationId xmlns:a16="http://schemas.microsoft.com/office/drawing/2014/main" id="{772A8A0D-821F-918E-C1EA-43A78A81A0AB}"/>
            </a:ext>
          </a:extLst>
        </p:cNvPr>
        <p:cNvGrpSpPr/>
        <p:nvPr/>
      </p:nvGrpSpPr>
      <p:grpSpPr>
        <a:xfrm>
          <a:off x="0" y="0"/>
          <a:ext cx="0" cy="0"/>
          <a:chOff x="0" y="0"/>
          <a:chExt cx="0" cy="0"/>
        </a:xfrm>
      </p:grpSpPr>
      <p:sp>
        <p:nvSpPr>
          <p:cNvPr id="365" name="Google Shape;365;p46">
            <a:extLst>
              <a:ext uri="{FF2B5EF4-FFF2-40B4-BE49-F238E27FC236}">
                <a16:creationId xmlns:a16="http://schemas.microsoft.com/office/drawing/2014/main" id="{49D2CA6F-E096-85FF-41F6-0957691B2CA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Wireframes (create listing)</a:t>
            </a:r>
            <a:endParaRPr dirty="0"/>
          </a:p>
        </p:txBody>
      </p:sp>
      <p:cxnSp>
        <p:nvCxnSpPr>
          <p:cNvPr id="367" name="Google Shape;367;p46">
            <a:extLst>
              <a:ext uri="{FF2B5EF4-FFF2-40B4-BE49-F238E27FC236}">
                <a16:creationId xmlns:a16="http://schemas.microsoft.com/office/drawing/2014/main" id="{FDBE92F5-4AFF-F6C8-5AD8-8E6A5904FCF3}"/>
              </a:ext>
            </a:extLst>
          </p:cNvPr>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368" name="Google Shape;368;p46">
            <a:extLst>
              <a:ext uri="{FF2B5EF4-FFF2-40B4-BE49-F238E27FC236}">
                <a16:creationId xmlns:a16="http://schemas.microsoft.com/office/drawing/2014/main" id="{FCB07225-AC39-8E67-96E7-9C36E176AF8A}"/>
              </a:ext>
            </a:extLst>
          </p:cNvPr>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BDFB1AA2-3B58-4C37-0D84-729F1951683E}"/>
              </a:ext>
            </a:extLst>
          </p:cNvPr>
          <p:cNvPicPr>
            <a:picLocks noChangeAspect="1"/>
          </p:cNvPicPr>
          <p:nvPr/>
        </p:nvPicPr>
        <p:blipFill>
          <a:blip r:embed="rId3"/>
          <a:srcRect l="325" r="325"/>
          <a:stretch/>
        </p:blipFill>
        <p:spPr>
          <a:xfrm>
            <a:off x="720000" y="1146304"/>
            <a:ext cx="7331179" cy="3532024"/>
          </a:xfrm>
          <a:prstGeom prst="rect">
            <a:avLst/>
          </a:prstGeom>
        </p:spPr>
      </p:pic>
      <p:pic>
        <p:nvPicPr>
          <p:cNvPr id="2" name="Picture 1">
            <a:extLst>
              <a:ext uri="{FF2B5EF4-FFF2-40B4-BE49-F238E27FC236}">
                <a16:creationId xmlns:a16="http://schemas.microsoft.com/office/drawing/2014/main" id="{C157B4AE-4B10-2F26-35F4-908B781B56AD}"/>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1289756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4">
          <a:extLst>
            <a:ext uri="{FF2B5EF4-FFF2-40B4-BE49-F238E27FC236}">
              <a16:creationId xmlns:a16="http://schemas.microsoft.com/office/drawing/2014/main" id="{CD121891-C799-41F3-8641-80488F2E4E28}"/>
            </a:ext>
          </a:extLst>
        </p:cNvPr>
        <p:cNvGrpSpPr/>
        <p:nvPr/>
      </p:nvGrpSpPr>
      <p:grpSpPr>
        <a:xfrm>
          <a:off x="0" y="0"/>
          <a:ext cx="0" cy="0"/>
          <a:chOff x="0" y="0"/>
          <a:chExt cx="0" cy="0"/>
        </a:xfrm>
      </p:grpSpPr>
      <p:sp>
        <p:nvSpPr>
          <p:cNvPr id="365" name="Google Shape;365;p46">
            <a:extLst>
              <a:ext uri="{FF2B5EF4-FFF2-40B4-BE49-F238E27FC236}">
                <a16:creationId xmlns:a16="http://schemas.microsoft.com/office/drawing/2014/main" id="{DE2A740F-B977-DD36-9F42-26C14C25DBC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Wireframes (user dashboard)</a:t>
            </a:r>
            <a:endParaRPr dirty="0"/>
          </a:p>
        </p:txBody>
      </p:sp>
      <p:cxnSp>
        <p:nvCxnSpPr>
          <p:cNvPr id="367" name="Google Shape;367;p46">
            <a:extLst>
              <a:ext uri="{FF2B5EF4-FFF2-40B4-BE49-F238E27FC236}">
                <a16:creationId xmlns:a16="http://schemas.microsoft.com/office/drawing/2014/main" id="{BE145302-DF3E-0143-A871-2E2A308607FF}"/>
              </a:ext>
            </a:extLst>
          </p:cNvPr>
          <p:cNvCxnSpPr/>
          <p:nvPr/>
        </p:nvCxnSpPr>
        <p:spPr>
          <a:xfrm>
            <a:off x="7161050" y="303000"/>
            <a:ext cx="2078700" cy="0"/>
          </a:xfrm>
          <a:prstGeom prst="straightConnector1">
            <a:avLst/>
          </a:prstGeom>
          <a:noFill/>
          <a:ln w="9525" cap="flat" cmpd="sng">
            <a:solidFill>
              <a:schemeClr val="dk1"/>
            </a:solidFill>
            <a:prstDash val="solid"/>
            <a:round/>
            <a:headEnd type="none" w="med" len="med"/>
            <a:tailEnd type="none" w="med" len="med"/>
          </a:ln>
        </p:spPr>
      </p:cxnSp>
      <p:cxnSp>
        <p:nvCxnSpPr>
          <p:cNvPr id="368" name="Google Shape;368;p46">
            <a:extLst>
              <a:ext uri="{FF2B5EF4-FFF2-40B4-BE49-F238E27FC236}">
                <a16:creationId xmlns:a16="http://schemas.microsoft.com/office/drawing/2014/main" id="{D57F4EE6-EE52-1A79-018C-F2D7EA7B07E0}"/>
              </a:ext>
            </a:extLst>
          </p:cNvPr>
          <p:cNvCxnSpPr/>
          <p:nvPr/>
        </p:nvCxnSpPr>
        <p:spPr>
          <a:xfrm rot="10800000">
            <a:off x="8768625" y="-28312"/>
            <a:ext cx="0" cy="4632300"/>
          </a:xfrm>
          <a:prstGeom prst="straightConnector1">
            <a:avLst/>
          </a:prstGeom>
          <a:noFill/>
          <a:ln w="9525" cap="flat"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1499BEF5-18C0-1FAF-8820-CAFAFA577C20}"/>
              </a:ext>
            </a:extLst>
          </p:cNvPr>
          <p:cNvPicPr>
            <a:picLocks noChangeAspect="1"/>
          </p:cNvPicPr>
          <p:nvPr/>
        </p:nvPicPr>
        <p:blipFill>
          <a:blip r:embed="rId3"/>
          <a:srcRect l="351" r="351"/>
          <a:stretch/>
        </p:blipFill>
        <p:spPr>
          <a:xfrm>
            <a:off x="720000" y="1146304"/>
            <a:ext cx="7331179" cy="3532024"/>
          </a:xfrm>
          <a:prstGeom prst="rect">
            <a:avLst/>
          </a:prstGeom>
        </p:spPr>
      </p:pic>
      <p:pic>
        <p:nvPicPr>
          <p:cNvPr id="2" name="Picture 1">
            <a:extLst>
              <a:ext uri="{FF2B5EF4-FFF2-40B4-BE49-F238E27FC236}">
                <a16:creationId xmlns:a16="http://schemas.microsoft.com/office/drawing/2014/main" id="{CFDAE0D8-1D51-C2D3-225E-671F637DEFE0}"/>
              </a:ext>
            </a:extLst>
          </p:cNvPr>
          <p:cNvPicPr>
            <a:picLocks noChangeAspect="1"/>
          </p:cNvPicPr>
          <p:nvPr/>
        </p:nvPicPr>
        <p:blipFill>
          <a:blip r:embed="rId4"/>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3443022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7AA-B91A-841B-2265-0DD6430EE0E1}"/>
              </a:ext>
            </a:extLst>
          </p:cNvPr>
          <p:cNvSpPr>
            <a:spLocks noGrp="1"/>
          </p:cNvSpPr>
          <p:nvPr>
            <p:ph type="title"/>
          </p:nvPr>
        </p:nvSpPr>
        <p:spPr>
          <a:xfrm>
            <a:off x="720000" y="445025"/>
            <a:ext cx="6952039" cy="572700"/>
          </a:xfrm>
        </p:spPr>
        <p:txBody>
          <a:bodyPr/>
          <a:lstStyle/>
          <a:p>
            <a:r>
              <a:rPr lang="en-GB" dirty="0"/>
              <a:t>Site URLs</a:t>
            </a:r>
          </a:p>
        </p:txBody>
      </p:sp>
      <p:sp>
        <p:nvSpPr>
          <p:cNvPr id="4" name="TextBox 3">
            <a:extLst>
              <a:ext uri="{FF2B5EF4-FFF2-40B4-BE49-F238E27FC236}">
                <a16:creationId xmlns:a16="http://schemas.microsoft.com/office/drawing/2014/main" id="{8B07A2F6-DFDE-F70F-42C1-8B02CB56FB0E}"/>
              </a:ext>
            </a:extLst>
          </p:cNvPr>
          <p:cNvSpPr txBox="1"/>
          <p:nvPr/>
        </p:nvSpPr>
        <p:spPr>
          <a:xfrm>
            <a:off x="3694773" y="1433573"/>
            <a:ext cx="4624038" cy="3013261"/>
          </a:xfrm>
          <a:prstGeom prst="rect">
            <a:avLst/>
          </a:prstGeom>
          <a:noFill/>
        </p:spPr>
        <p:txBody>
          <a:bodyPr wrap="square">
            <a:spAutoFit/>
          </a:bodyPr>
          <a:lstStyle/>
          <a:p>
            <a:pPr>
              <a:lnSpc>
                <a:spcPct val="150000"/>
              </a:lnSpc>
            </a:pPr>
            <a:r>
              <a:rPr lang="en-GB" sz="1600" dirty="0">
                <a:latin typeface="DM Sans" pitchFamily="2" charset="0"/>
              </a:rPr>
              <a:t>/Shop</a:t>
            </a:r>
          </a:p>
          <a:p>
            <a:pPr>
              <a:lnSpc>
                <a:spcPct val="150000"/>
              </a:lnSpc>
            </a:pPr>
            <a:r>
              <a:rPr lang="en-GB" sz="1600" dirty="0">
                <a:latin typeface="DM Sans" pitchFamily="2" charset="0"/>
              </a:rPr>
              <a:t>/Shop/*category*</a:t>
            </a:r>
          </a:p>
          <a:p>
            <a:pPr>
              <a:lnSpc>
                <a:spcPct val="150000"/>
              </a:lnSpc>
            </a:pPr>
            <a:r>
              <a:rPr lang="en-GB" sz="1600" dirty="0">
                <a:latin typeface="DM Sans" pitchFamily="2" charset="0"/>
              </a:rPr>
              <a:t>/Shop/*Item*</a:t>
            </a:r>
          </a:p>
          <a:p>
            <a:pPr>
              <a:lnSpc>
                <a:spcPct val="150000"/>
              </a:lnSpc>
            </a:pPr>
            <a:r>
              <a:rPr lang="en-GB" sz="1600" dirty="0">
                <a:latin typeface="DM Sans" pitchFamily="2" charset="0"/>
              </a:rPr>
              <a:t>/Shop/*Item*/purchase</a:t>
            </a:r>
          </a:p>
          <a:p>
            <a:pPr>
              <a:lnSpc>
                <a:spcPct val="150000"/>
              </a:lnSpc>
            </a:pPr>
            <a:r>
              <a:rPr lang="en-GB" sz="1600" dirty="0">
                <a:latin typeface="DM Sans" pitchFamily="2" charset="0"/>
              </a:rPr>
              <a:t>/newItem</a:t>
            </a:r>
          </a:p>
          <a:p>
            <a:pPr>
              <a:lnSpc>
                <a:spcPct val="150000"/>
              </a:lnSpc>
            </a:pPr>
            <a:r>
              <a:rPr lang="en-GB" sz="1600" dirty="0">
                <a:latin typeface="DM Sans" pitchFamily="2" charset="0"/>
              </a:rPr>
              <a:t>/SignUp</a:t>
            </a:r>
          </a:p>
          <a:p>
            <a:pPr>
              <a:lnSpc>
                <a:spcPct val="150000"/>
              </a:lnSpc>
            </a:pPr>
            <a:r>
              <a:rPr lang="en-GB" sz="1600" dirty="0">
                <a:latin typeface="DM Sans" pitchFamily="2" charset="0"/>
              </a:rPr>
              <a:t>/login</a:t>
            </a:r>
          </a:p>
          <a:p>
            <a:pPr>
              <a:lnSpc>
                <a:spcPct val="150000"/>
              </a:lnSpc>
            </a:pPr>
            <a:r>
              <a:rPr lang="en-GB" sz="1600" dirty="0">
                <a:latin typeface="DM Sans" pitchFamily="2" charset="0"/>
              </a:rPr>
              <a:t>/Account</a:t>
            </a:r>
          </a:p>
        </p:txBody>
      </p:sp>
      <p:sp>
        <p:nvSpPr>
          <p:cNvPr id="5" name="Rectangle 4">
            <a:extLst>
              <a:ext uri="{FF2B5EF4-FFF2-40B4-BE49-F238E27FC236}">
                <a16:creationId xmlns:a16="http://schemas.microsoft.com/office/drawing/2014/main" id="{57266BB9-2DFE-F381-81B9-2B5FA88DF844}"/>
              </a:ext>
            </a:extLst>
          </p:cNvPr>
          <p:cNvSpPr/>
          <p:nvPr/>
        </p:nvSpPr>
        <p:spPr>
          <a:xfrm>
            <a:off x="1702420" y="1308409"/>
            <a:ext cx="5568175" cy="3263591"/>
          </a:xfrm>
          <a:prstGeom prst="rect">
            <a:avLst/>
          </a:prstGeom>
          <a:noFill/>
          <a:ln w="57150" cap="flat" cmpd="sng" algn="ctr">
            <a:solidFill>
              <a:schemeClr val="bg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a:p>
        </p:txBody>
      </p:sp>
      <p:pic>
        <p:nvPicPr>
          <p:cNvPr id="6" name="Picture 5">
            <a:extLst>
              <a:ext uri="{FF2B5EF4-FFF2-40B4-BE49-F238E27FC236}">
                <a16:creationId xmlns:a16="http://schemas.microsoft.com/office/drawing/2014/main" id="{041822BD-5858-BAA4-734E-A64517C22AED}"/>
              </a:ext>
            </a:extLst>
          </p:cNvPr>
          <p:cNvPicPr>
            <a:picLocks noChangeAspect="1"/>
          </p:cNvPicPr>
          <p:nvPr/>
        </p:nvPicPr>
        <p:blipFill>
          <a:blip r:embed="rId2"/>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1144235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36A697C-EFD5-3546-DA1F-A3E90FE4D8F6}"/>
              </a:ext>
            </a:extLst>
          </p:cNvPr>
          <p:cNvSpPr txBox="1">
            <a:spLocks/>
          </p:cNvSpPr>
          <p:nvPr/>
        </p:nvSpPr>
        <p:spPr>
          <a:xfrm>
            <a:off x="720000" y="445025"/>
            <a:ext cx="6952039" cy="572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800" dirty="0">
                <a:latin typeface="Playfair Display Medium" panose="020B0604020202020204" charset="0"/>
              </a:rPr>
              <a:t>Site map</a:t>
            </a:r>
          </a:p>
        </p:txBody>
      </p:sp>
      <p:pic>
        <p:nvPicPr>
          <p:cNvPr id="7" name="Picture 6">
            <a:extLst>
              <a:ext uri="{FF2B5EF4-FFF2-40B4-BE49-F238E27FC236}">
                <a16:creationId xmlns:a16="http://schemas.microsoft.com/office/drawing/2014/main" id="{D0D6FE65-AC34-A60F-EE3C-85469BCD2E61}"/>
              </a:ext>
            </a:extLst>
          </p:cNvPr>
          <p:cNvPicPr>
            <a:picLocks noChangeAspect="1"/>
          </p:cNvPicPr>
          <p:nvPr/>
        </p:nvPicPr>
        <p:blipFill>
          <a:blip r:embed="rId2"/>
          <a:srcRect b="9392"/>
          <a:stretch>
            <a:fillRect/>
          </a:stretch>
        </p:blipFill>
        <p:spPr>
          <a:xfrm>
            <a:off x="1330711" y="1027025"/>
            <a:ext cx="6490008" cy="3675299"/>
          </a:xfrm>
          <a:prstGeom prst="rect">
            <a:avLst/>
          </a:prstGeom>
        </p:spPr>
      </p:pic>
    </p:spTree>
    <p:extLst>
      <p:ext uri="{BB962C8B-B14F-4D97-AF65-F5344CB8AC3E}">
        <p14:creationId xmlns:p14="http://schemas.microsoft.com/office/powerpoint/2010/main" val="42582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291DB6-A57F-4C7F-E8AC-2D1F929067C9}"/>
              </a:ext>
            </a:extLst>
          </p:cNvPr>
          <p:cNvSpPr txBox="1"/>
          <p:nvPr/>
        </p:nvSpPr>
        <p:spPr>
          <a:xfrm>
            <a:off x="408878" y="3360234"/>
            <a:ext cx="5687122" cy="1200329"/>
          </a:xfrm>
          <a:prstGeom prst="rect">
            <a:avLst/>
          </a:prstGeom>
          <a:noFill/>
        </p:spPr>
        <p:txBody>
          <a:bodyPr wrap="square" rtlCol="0">
            <a:spAutoFit/>
          </a:bodyPr>
          <a:lstStyle/>
          <a:p>
            <a:r>
              <a:rPr lang="en-GB" sz="7200">
                <a:solidFill>
                  <a:schemeClr val="tx1"/>
                </a:solidFill>
                <a:latin typeface="Playfair Display Medium" panose="020B0604020202020204" charset="0"/>
              </a:rPr>
              <a:t>Thank you!</a:t>
            </a:r>
            <a:endParaRPr lang="en-GB" sz="7200" dirty="0">
              <a:solidFill>
                <a:schemeClr val="tx1"/>
              </a:solidFill>
              <a:latin typeface="Playfair Display Medium" panose="020B0604020202020204" charset="0"/>
            </a:endParaRPr>
          </a:p>
        </p:txBody>
      </p:sp>
      <p:pic>
        <p:nvPicPr>
          <p:cNvPr id="3" name="Picture 2">
            <a:extLst>
              <a:ext uri="{FF2B5EF4-FFF2-40B4-BE49-F238E27FC236}">
                <a16:creationId xmlns:a16="http://schemas.microsoft.com/office/drawing/2014/main" id="{6D53B4CE-1270-4496-B9F7-8A7A9AC54166}"/>
              </a:ext>
            </a:extLst>
          </p:cNvPr>
          <p:cNvPicPr>
            <a:picLocks noChangeAspect="1"/>
          </p:cNvPicPr>
          <p:nvPr/>
        </p:nvPicPr>
        <p:blipFill>
          <a:blip r:embed="rId2"/>
          <a:srcRect l="21063" t="10160" r="20447" b="14446"/>
          <a:stretch>
            <a:fillRect/>
          </a:stretch>
        </p:blipFill>
        <p:spPr>
          <a:xfrm flipH="1">
            <a:off x="8495446" y="24385"/>
            <a:ext cx="198627" cy="256032"/>
          </a:xfrm>
          <a:prstGeom prst="rect">
            <a:avLst/>
          </a:prstGeom>
        </p:spPr>
      </p:pic>
    </p:spTree>
    <p:extLst>
      <p:ext uri="{BB962C8B-B14F-4D97-AF65-F5344CB8AC3E}">
        <p14:creationId xmlns:p14="http://schemas.microsoft.com/office/powerpoint/2010/main" val="2307953870"/>
      </p:ext>
    </p:extLst>
  </p:cSld>
  <p:clrMapOvr>
    <a:masterClrMapping/>
  </p:clrMapOvr>
</p:sld>
</file>

<file path=ppt/theme/theme1.xml><?xml version="1.0" encoding="utf-8"?>
<a:theme xmlns:a="http://schemas.openxmlformats.org/drawingml/2006/main"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TotalTime>
  <Words>684</Words>
  <Application>Microsoft Office PowerPoint</Application>
  <PresentationFormat>On-screen Show (16:9)</PresentationFormat>
  <Paragraphs>146</Paragraphs>
  <Slides>20</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Playfair Display Medium</vt:lpstr>
      <vt:lpstr>Georgia Pro Cond</vt:lpstr>
      <vt:lpstr>Times New Roman</vt:lpstr>
      <vt:lpstr>Arial</vt:lpstr>
      <vt:lpstr>DM Sans</vt:lpstr>
      <vt:lpstr>Wingdings</vt:lpstr>
      <vt:lpstr>Anaheim</vt:lpstr>
      <vt:lpstr>Georgia Pro Light</vt:lpstr>
      <vt:lpstr>Raleway</vt:lpstr>
      <vt:lpstr>Formal and Professional Portfolio by Slidesgo</vt:lpstr>
      <vt:lpstr>Campus  Marketplace</vt:lpstr>
      <vt:lpstr>CONTENTS</vt:lpstr>
      <vt:lpstr>Overview</vt:lpstr>
      <vt:lpstr>Persona One (Robert)</vt:lpstr>
      <vt:lpstr>Persona Two (Ore)</vt:lpstr>
      <vt:lpstr>Persona Three  (Tess)</vt:lpstr>
      <vt:lpstr>Requirements (MoSCoW)</vt:lpstr>
      <vt:lpstr>System Architecture Diagram</vt:lpstr>
      <vt:lpstr>ER Diagram</vt:lpstr>
      <vt:lpstr>User entity</vt:lpstr>
      <vt:lpstr>Item entity</vt:lpstr>
      <vt:lpstr>Transaction entity</vt:lpstr>
      <vt:lpstr>Item photo entity</vt:lpstr>
      <vt:lpstr>Wireframes (main)</vt:lpstr>
      <vt:lpstr>Wireframes (login)</vt:lpstr>
      <vt:lpstr>Wireframes (create listing)</vt:lpstr>
      <vt:lpstr>Wireframes (user dashboard)</vt:lpstr>
      <vt:lpstr>Site URLs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Parisan Vazirinejad</cp:lastModifiedBy>
  <cp:revision>8</cp:revision>
  <dcterms:modified xsi:type="dcterms:W3CDTF">2026-03-09T23:29:37Z</dcterms:modified>
</cp:coreProperties>
</file>